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e68cda9cc1458f" /><Relationship Type="http://schemas.openxmlformats.org/officeDocument/2006/relationships/extended-properties" Target="/docProps/app.xml" Id="Rbfd7fe561a324f11" /><Relationship Type="http://schemas.openxmlformats.org/officeDocument/2006/relationships/officeDocument" Target="/ppt/presentation.xml" Id="Rb31aabd8706d43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11765d62584559"/>
  </p:sldMasterIdLst>
  <p:notesMasterIdLst>
    <p:notesMasterId xmlns:r="http://schemas.openxmlformats.org/officeDocument/2006/relationships" r:id="R82c9980ae0f244a1"/>
  </p:notesMasterIdLst>
  <p:sldIdLst>
    <p:sldId xmlns:r="http://schemas.openxmlformats.org/officeDocument/2006/relationships" id="256" r:id="Rf11e3af689844921"/>
    <p:sldId xmlns:r="http://schemas.openxmlformats.org/officeDocument/2006/relationships" id="257" r:id="R7622e1e726564a46"/>
    <p:sldId xmlns:r="http://schemas.openxmlformats.org/officeDocument/2006/relationships" id="258" r:id="R0c3c984701b34f96"/>
    <p:sldId xmlns:r="http://schemas.openxmlformats.org/officeDocument/2006/relationships" id="259" r:id="Red14bcfd331c4d05"/>
    <p:sldId xmlns:r="http://schemas.openxmlformats.org/officeDocument/2006/relationships" id="260" r:id="Rec280c21b89847d9"/>
    <p:sldId xmlns:r="http://schemas.openxmlformats.org/officeDocument/2006/relationships" id="261" r:id="R2f99ae2f6a7e42dd"/>
    <p:sldId xmlns:r="http://schemas.openxmlformats.org/officeDocument/2006/relationships" id="262" r:id="Rf2906381bece4a58"/>
    <p:sldId xmlns:r="http://schemas.openxmlformats.org/officeDocument/2006/relationships" id="263" r:id="R9317ab3916e642b8"/>
    <p:sldId xmlns:r="http://schemas.openxmlformats.org/officeDocument/2006/relationships" id="264" r:id="Reec8a27f1d324bad"/>
    <p:sldId xmlns:r="http://schemas.openxmlformats.org/officeDocument/2006/relationships" id="265" r:id="R7d18e99f0af44e71"/>
    <p:sldId xmlns:r="http://schemas.openxmlformats.org/officeDocument/2006/relationships" id="266" r:id="Rcde9fc263f25425a"/>
    <p:sldId xmlns:r="http://schemas.openxmlformats.org/officeDocument/2006/relationships" id="267" r:id="Red0cbc9506404c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0e75147a4b4523" /><Relationship Type="http://schemas.openxmlformats.org/officeDocument/2006/relationships/slideMaster" Target="/ppt/slideMasters/slideMaster1.xml" Id="R8111765d62584559" /><Relationship Type="http://schemas.openxmlformats.org/officeDocument/2006/relationships/notesMaster" Target="/ppt/notesMasters/notesMaster1.xml" Id="R82c9980ae0f244a1" /><Relationship Type="http://schemas.openxmlformats.org/officeDocument/2006/relationships/presProps" Target="/ppt/presProps.xml" Id="R5b00034a098b45f6" /><Relationship Type="http://schemas.openxmlformats.org/officeDocument/2006/relationships/tableStyles" Target="/ppt/tableStyles.xml" Id="R8f567b6c1a5f46c7" /><Relationship Type="http://schemas.openxmlformats.org/officeDocument/2006/relationships/slide" Target="/ppt/slides/slide1.xml" Id="Rf11e3af689844921" /><Relationship Type="http://schemas.openxmlformats.org/officeDocument/2006/relationships/slide" Target="/ppt/slides/slide2.xml" Id="R7622e1e726564a46" /><Relationship Type="http://schemas.openxmlformats.org/officeDocument/2006/relationships/slide" Target="/ppt/slides/slide3.xml" Id="R0c3c984701b34f96" /><Relationship Type="http://schemas.openxmlformats.org/officeDocument/2006/relationships/slide" Target="/ppt/slides/slide4.xml" Id="Red14bcfd331c4d05" /><Relationship Type="http://schemas.openxmlformats.org/officeDocument/2006/relationships/slide" Target="/ppt/slides/slide5.xml" Id="Rec280c21b89847d9" /><Relationship Type="http://schemas.openxmlformats.org/officeDocument/2006/relationships/slide" Target="/ppt/slides/slide6.xml" Id="R2f99ae2f6a7e42dd" /><Relationship Type="http://schemas.openxmlformats.org/officeDocument/2006/relationships/slide" Target="/ppt/slides/slide7.xml" Id="Rf2906381bece4a58" /><Relationship Type="http://schemas.openxmlformats.org/officeDocument/2006/relationships/slide" Target="/ppt/slides/slide8.xml" Id="R9317ab3916e642b8" /><Relationship Type="http://schemas.openxmlformats.org/officeDocument/2006/relationships/slide" Target="/ppt/slides/slide9.xml" Id="Reec8a27f1d324bad" /><Relationship Type="http://schemas.openxmlformats.org/officeDocument/2006/relationships/slide" Target="/ppt/slides/slide10.xml" Id="R7d18e99f0af44e71" /><Relationship Type="http://schemas.openxmlformats.org/officeDocument/2006/relationships/slide" Target="/ppt/slides/slide11.xml" Id="Rcde9fc263f25425a" /><Relationship Type="http://schemas.openxmlformats.org/officeDocument/2006/relationships/slide" Target="/ppt/slides/slide12.xml" Id="Red0cbc9506404c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28a749f7e640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HESTIM">
      <a:dk1>
        <a:srgbClr val="000000"/>
      </a:dk1>
      <a:lt1>
        <a:srgbClr val="FFFFFF"/>
      </a:lt1>
      <a:dk2>
        <a:srgbClr val="002060"/>
      </a:dk2>
      <a:lt2>
        <a:srgbClr val="F0F3F8"/>
      </a:lt2>
      <a:accent1>
        <a:srgbClr val="002060"/>
      </a:accent1>
      <a:accent2>
        <a:srgbClr val="ED7D31"/>
      </a:accent2>
      <a:accent3>
        <a:srgbClr val="385723"/>
      </a:accent3>
      <a:accent4>
        <a:srgbClr val="C00000"/>
      </a:accent4>
      <a:accent5>
        <a:srgbClr val="5579A9"/>
      </a:accent5>
      <a:accent6>
        <a:srgbClr val="8996AA"/>
      </a:accent6>
      <a:hlink>
        <a:srgbClr val="002060"/>
      </a:hlink>
      <a:folHlink>
        <a:srgbClr val="ED7D31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HESTI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075d519f694f59" /><Relationship Type="http://schemas.openxmlformats.org/officeDocument/2006/relationships/notesMaster" Target="/ppt/notesMasters/notesMaster1.xml" Id="R2cc1f5d0a1504e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72434b8cdb48e4" /><Relationship Type="http://schemas.openxmlformats.org/officeDocument/2006/relationships/notesMaster" Target="/ppt/notesMasters/notesMaster1.xml" Id="R015915beb67746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8298d5fba445d5" /><Relationship Type="http://schemas.openxmlformats.org/officeDocument/2006/relationships/notesMaster" Target="/ppt/notesMasters/notesMaster1.xml" Id="R0b9f955ae7ab43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4c8dd7740b4dd3" /><Relationship Type="http://schemas.openxmlformats.org/officeDocument/2006/relationships/notesMaster" Target="/ppt/notesMasters/notesMaster1.xml" Id="R2bf4885308fa40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d485fb690e4cfa" /><Relationship Type="http://schemas.openxmlformats.org/officeDocument/2006/relationships/notesMaster" Target="/ppt/notesMasters/notesMaster1.xml" Id="R80a14181552e47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84da9b2f694464" /><Relationship Type="http://schemas.openxmlformats.org/officeDocument/2006/relationships/notesMaster" Target="/ppt/notesMasters/notesMaster1.xml" Id="Rddc7e486166f47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9a0d88922f43d6" /><Relationship Type="http://schemas.openxmlformats.org/officeDocument/2006/relationships/notesMaster" Target="/ppt/notesMasters/notesMaster1.xml" Id="R427a473a8d594a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5fefdff9e2473a" /><Relationship Type="http://schemas.openxmlformats.org/officeDocument/2006/relationships/notesMaster" Target="/ppt/notesMasters/notesMaster1.xml" Id="R87552535023649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7e8ee5f71340a7" /><Relationship Type="http://schemas.openxmlformats.org/officeDocument/2006/relationships/notesMaster" Target="/ppt/notesMasters/notesMaster1.xml" Id="R5b01bd7adbf549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e968b097514d24" /><Relationship Type="http://schemas.openxmlformats.org/officeDocument/2006/relationships/notesMaster" Target="/ppt/notesMasters/notesMaster1.xml" Id="R44db8e3a1e614b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2e14e9fbc74fff" /><Relationship Type="http://schemas.openxmlformats.org/officeDocument/2006/relationships/notesMaster" Target="/ppt/notesMasters/notesMaster1.xml" Id="R7918e42c74ec49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d6b5e593154686" /><Relationship Type="http://schemas.openxmlformats.org/officeDocument/2006/relationships/notesMaster" Target="/ppt/notesMasters/notesMaster1.xml" Id="Ree8406ed099343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le problème, le périmètre à trois intentions et la séparation stricte entre résultats NLP mesurés et validation robotique à réaliser.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Identité visuelle : bandeau et logo issus des ressources HESTIM déjà présentes dans le projet. Les résultats numériques proviennent exclusivement des fichiers artifacts générés le 22 octobre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 seules sorties autorisées sont navigation, arrêt et rapport. Toute autre action est refusée avant ROS 2. Source : README.md et docs/rapport_final.md.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Identité visuelle : bandeau et logo issus des ressources HESTIM déjà présentes dans le projet. Les résultats numériques proviennent exclusivement des fichiers artifacts générés le 22 octobre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Chaque couche a une responsabilité testable. Le repli lexical est désactivé par défaut. Source : docs/architecture.md.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Identité visuelle : bandeau et logo issus des ressources HESTIM déjà présentes dans le projet. Les résultats numériques proviennent exclusivement des fichiers artifacts générés le 22 octobre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 splits sont figés dans les CSV. L’audit compare aussi les quasi-doublons entre ensembles au seuil 0,94. Source : artifacts/dataset_audit.json.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Identité visuelle : bandeau et logo issus des ressources HESTIM déjà présentes dans le projet. Les résultats numériques proviennent exclusivement des fichiers artifacts générés le 22 octobre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meilleur checkpoint est choisi par F1 macro de validation, non par le test. Source : scripts/train_intent_classifier.py et validation_metrics.json.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Identité visuelle : bandeau et logo issus des ressources HESTIM déjà présentes dans le projet. Les résultats numériques proviennent exclusivement des fichiers artifacts générés le 22 octobre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modèle propose une intention ; la politique de sûreté décide si elle peut être routée. Source : command_processor.py et dataset/safety_commands.csv.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Identité visuelle : bandeau et logo issus des ressources HESTIM déjà présentes dans le projet. Les résultats numériques proviennent exclusivement des fichiers artifacts générés le 22 octobre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L’adaptateur utilise directement l’action Nav2 et ne transforme jamais un waypoint demandé en position actuelle. Source : nlp_commander_node.py.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Identité visuelle : bandeau et logo issus des ressources HESTIM déjà présentes dans le projet. Les résultats numériques proviennent exclusivement des fichiers artifacts générés le 22 octobre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machine d’état rend visible une annulation lente, refusée ou expirée. Source : navigation_state.py et tests/test_navigation_state.py.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Identité visuelle : bandeau et logo issus des ressources HESTIM déjà présentes dans le projet. Les résultats numériques proviennent exclusivement des fichiers artifacts générés le 22 octobre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 chiffres proviennent des fichiers JSON générés par les scripts, avec graine 42. Ils ne représentent pas un taux de réussite robotique.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Identité visuelle : bandeau et logo issus des ressources HESTIM déjà présentes dans le projet. Les résultats numériques proviennent exclusivement des fichiers artifacts générés le 22 octobre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Aucun résultat robotique n’est inventé. La campagne cible Ubuntu 22.04 avec ROS 2 Humble. Source : docs/ACTIONS_MANUELLES.md.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Identité visuelle : bandeau et logo issus des ressources HESTIM déjà présentes dans le projet. Les résultats numériques proviennent exclusivement des fichiers artifacts générés le 22 octobre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déroulé complet est détaillé dans docs/checklist_demo.md.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Identité visuelle : bandeau et logo issus des ressources HESTIM déjà présentes dans le projet. Les résultats numériques proviennent exclusivement des fichiers artifacts générés le 22 octobre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prototype est prêt pour la validation robotique finale : taxonomie cohérente, données auditées, modèle mesuré, décisions sûres et intégration Nav2 traçable.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Identité visuelle : bandeau et logo issus des ressources HESTIM déjà présentes dans le projet. Les résultats numériques proviennent exclusivement des fichiers artifacts générés le 22 octobre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cd8d51a13147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02c30a60ef4b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43ed8c9b2248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3a64adff6441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87166dc02e4f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01192fe3d4f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793A4E-FBEA-4B94-A186-4E6E3F8DC4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BFB1DC9-6659-42A2-9BAA-79852C468F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322867D-AB6C-4D49-A399-BA64B621F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251402-A6E8-4B1F-91F4-C3C06D05CC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03FAF44-AEF4-4639-B232-CDC9AA2078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B3AD16A-5729-421F-98FE-266ED38530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DBE3B8-35FA-4503-B7F9-101FE34BCD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70343C1-1AA6-464A-8809-75573CD84F9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E757CE-7069-452C-9049-0AFE94833F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A630CA-FD09-4738-B774-0F61F7DC2D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6d95e6b5ce436f" /><Relationship Type="http://schemas.openxmlformats.org/officeDocument/2006/relationships/slideLayout" Target="/ppt/slideLayouts/slideLayout1.xml" Id="R8940b40cb9e14db4" /><Relationship Type="http://schemas.openxmlformats.org/officeDocument/2006/relationships/slideLayout" Target="/ppt/slideLayouts/slideLayout2.xml" Id="R4a9f13667d514081" /><Relationship Type="http://schemas.openxmlformats.org/officeDocument/2006/relationships/slideLayout" Target="/ppt/slideLayouts/slideLayout3.xml" Id="R2c143748d9434fee" /><Relationship Type="http://schemas.openxmlformats.org/officeDocument/2006/relationships/slideLayout" Target="/ppt/slideLayouts/slideLayout4.xml" Id="Rf3c16a2c4903443d" /><Relationship Type="http://schemas.openxmlformats.org/officeDocument/2006/relationships/slideLayout" Target="/ppt/slideLayouts/slideLayout5.xml" Id="R2944b253d7b7497d" /><Relationship Type="http://schemas.openxmlformats.org/officeDocument/2006/relationships/slideLayout" Target="/ppt/slideLayouts/slideLayout6.xml" Id="R4f01d7e627c44b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40b40cb9e14db4"/>
    <p:sldLayoutId xmlns:r="http://schemas.openxmlformats.org/officeDocument/2006/relationships" id="2147483650" r:id="R4a9f13667d514081"/>
    <p:sldLayoutId xmlns:r="http://schemas.openxmlformats.org/officeDocument/2006/relationships" id="2147483651" r:id="R2c143748d9434fee"/>
    <p:sldLayoutId xmlns:r="http://schemas.openxmlformats.org/officeDocument/2006/relationships" id="2147483652" r:id="Rf3c16a2c4903443d"/>
    <p:sldLayoutId xmlns:r="http://schemas.openxmlformats.org/officeDocument/2006/relationships" id="2147483653" r:id="R2944b253d7b7497d"/>
    <p:sldLayoutId xmlns:r="http://schemas.openxmlformats.org/officeDocument/2006/relationships" id="2147483654" r:id="R4f01d7e627c44b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HESTIM">
      <a:dk1>
        <a:srgbClr val="000000"/>
      </a:dk1>
      <a:lt1>
        <a:srgbClr val="FFFFFF"/>
      </a:lt1>
      <a:dk2>
        <a:srgbClr val="002060"/>
      </a:dk2>
      <a:lt2>
        <a:srgbClr val="F0F3F8"/>
      </a:lt2>
      <a:accent1>
        <a:srgbClr val="002060"/>
      </a:accent1>
      <a:accent2>
        <a:srgbClr val="ED7D31"/>
      </a:accent2>
      <a:accent3>
        <a:srgbClr val="385723"/>
      </a:accent3>
      <a:accent4>
        <a:srgbClr val="C00000"/>
      </a:accent4>
      <a:accent5>
        <a:srgbClr val="5579A9"/>
      </a:accent5>
      <a:accent6>
        <a:srgbClr val="8996AA"/>
      </a:accent6>
      <a:hlink>
        <a:srgbClr val="002060"/>
      </a:hlink>
      <a:folHlink>
        <a:srgbClr val="ED7D31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HESTI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53536b69f64e8d" /><Relationship Type="http://schemas.openxmlformats.org/officeDocument/2006/relationships/image" Target="/ppt/media/image.png" Id="Rb32846fb045d4a1b" /><Relationship Type="http://schemas.openxmlformats.org/officeDocument/2006/relationships/notesSlide" Target="/ppt/notesSlides/notesSlide1.xml" Id="Rdecc65f168b748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28123309a14972" /><Relationship Type="http://schemas.openxmlformats.org/officeDocument/2006/relationships/image" Target="/ppt/media/image2.png" Id="R8a677104f0bf4bee" /><Relationship Type="http://schemas.openxmlformats.org/officeDocument/2006/relationships/notesSlide" Target="/ppt/notesSlides/notesSlide2.xml" Id="R440b19f3fab64d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05999b71e84160" /><Relationship Type="http://schemas.openxmlformats.org/officeDocument/2006/relationships/image" Target="/ppt/media/image3.png" Id="Rffda5e17331a47f5" /><Relationship Type="http://schemas.openxmlformats.org/officeDocument/2006/relationships/notesSlide" Target="/ppt/notesSlides/notesSlide3.xml" Id="R88006aadfb8f42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1fcfc1e8984971" /><Relationship Type="http://schemas.openxmlformats.org/officeDocument/2006/relationships/image" Target="/ppt/media/image4.png" Id="Raa333fbb19774ed7" /><Relationship Type="http://schemas.openxmlformats.org/officeDocument/2006/relationships/chart" Target="/ppt/slides/charts/chart1.xml" Id="Rca934d179e144864" /><Relationship Type="http://schemas.openxmlformats.org/officeDocument/2006/relationships/notesSlide" Target="/ppt/notesSlides/notesSlide4.xml" Id="R73fa37012f734e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6e514be39243b8" /><Relationship Type="http://schemas.openxmlformats.org/officeDocument/2006/relationships/image" Target="/ppt/media/image5.png" Id="Reeabd48b19a043d3" /><Relationship Type="http://schemas.openxmlformats.org/officeDocument/2006/relationships/notesSlide" Target="/ppt/notesSlides/notesSlide5.xml" Id="Rb04aa3c58f5c4b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9ba2bc3754474e" /><Relationship Type="http://schemas.openxmlformats.org/officeDocument/2006/relationships/image" Target="/ppt/media/image6.png" Id="Re74632a7c70e41f9" /><Relationship Type="http://schemas.openxmlformats.org/officeDocument/2006/relationships/notesSlide" Target="/ppt/notesSlides/notesSlide6.xml" Id="R1acd5ce12f0045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c64ae25a3340b0" /><Relationship Type="http://schemas.openxmlformats.org/officeDocument/2006/relationships/image" Target="/ppt/media/image7.png" Id="Re816e021dd554a63" /><Relationship Type="http://schemas.openxmlformats.org/officeDocument/2006/relationships/image" Target="/ppt/media/image8.png" Id="R8984e14187d240dd" /><Relationship Type="http://schemas.openxmlformats.org/officeDocument/2006/relationships/notesSlide" Target="/ppt/notesSlides/notesSlide7.xml" Id="R0f00afb7a9de43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f4e7bb27dc4d6f" /><Relationship Type="http://schemas.openxmlformats.org/officeDocument/2006/relationships/image" Target="/ppt/media/image9.png" Id="R912268ff19f2425d" /><Relationship Type="http://schemas.openxmlformats.org/officeDocument/2006/relationships/notesSlide" Target="/ppt/notesSlides/notesSlide8.xml" Id="R9c17c886d3ec48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9d7dc5fa7d47bc" /><Relationship Type="http://schemas.openxmlformats.org/officeDocument/2006/relationships/image" Target="/ppt/media/image10.png" Id="Rb5a55d37f74b4809" /><Relationship Type="http://schemas.openxmlformats.org/officeDocument/2006/relationships/chart" Target="/ppt/slides/charts/chart2.xml" Id="Rde106dfd98474387" /><Relationship Type="http://schemas.openxmlformats.org/officeDocument/2006/relationships/notesSlide" Target="/ppt/notesSlides/notesSlide9.xml" Id="R7cb3044b91ea41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87996569384733" /><Relationship Type="http://schemas.openxmlformats.org/officeDocument/2006/relationships/image" Target="/ppt/media/image11.png" Id="R2e032f7cea9a4334" /><Relationship Type="http://schemas.openxmlformats.org/officeDocument/2006/relationships/notesSlide" Target="/ppt/notesSlides/notesSlide10.xml" Id="Rca8f8503951148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dd8812469f41d3" /><Relationship Type="http://schemas.openxmlformats.org/officeDocument/2006/relationships/image" Target="/ppt/media/image12.png" Id="Rf2a390789a6845f2" /><Relationship Type="http://schemas.openxmlformats.org/officeDocument/2006/relationships/notesSlide" Target="/ppt/notesSlides/notesSlide11.xml" Id="Rab2a7eedca6c45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aaed4be8994878" /><Relationship Type="http://schemas.openxmlformats.org/officeDocument/2006/relationships/image" Target="/ppt/media/image13.png" Id="Rcd4f5db66f6346cc" /><Relationship Type="http://schemas.openxmlformats.org/officeDocument/2006/relationships/notesSlide" Target="/ppt/notesSlides/notesSlide12.xml" Id="R03a81d21750a45a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Entraînement</c:v>
          </c:tx>
          <c:spPr>
            <a:solidFill xmlns:a="http://schemas.openxmlformats.org/drawingml/2006/main">
              <a:srgbClr val="002060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navigate</c:v>
                </c:pt>
                <c:pt idx="1">
                  <c:v>stop</c:v>
                </c:pt>
                <c:pt idx="2">
                  <c:v>report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42</c:v>
                </c:pt>
                <c:pt idx="1">
                  <c:v>42</c:v>
                </c:pt>
                <c:pt idx="2">
                  <c:v>42</c:v>
                </c:pt>
              </c:numCache>
            </c:numRef>
          </c:val>
        </c:ser>
        <c:ser>
          <c:idx val="1"/>
          <c:order val="1"/>
          <c:tx>
            <c:v>Validation</c:v>
          </c:tx>
          <c:spPr>
            <a:solidFill xmlns:a="http://schemas.openxmlformats.org/drawingml/2006/main">
              <a:srgbClr val="ED7D31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navigate</c:v>
                </c:pt>
                <c:pt idx="1">
                  <c:v>stop</c:v>
                </c:pt>
                <c:pt idx="2">
                  <c:v>report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12</c:v>
                </c:pt>
                <c:pt idx="1">
                  <c:v>12</c:v>
                </c:pt>
                <c:pt idx="2">
                  <c:v>12</c:v>
                </c:pt>
              </c:numCache>
            </c:numRef>
          </c:val>
        </c:ser>
        <c:ser>
          <c:idx val="2"/>
          <c:order val="2"/>
          <c:tx>
            <c:v>Test indépendant</c:v>
          </c:tx>
          <c:spPr>
            <a:solidFill xmlns:a="http://schemas.openxmlformats.org/drawingml/2006/main">
              <a:srgbClr val="385723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navigate</c:v>
                </c:pt>
                <c:pt idx="1">
                  <c:v>stop</c:v>
                </c:pt>
                <c:pt idx="2">
                  <c:v>report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15</c:v>
                </c:pt>
                <c:pt idx="1">
                  <c:v>15</c:v>
                </c:pt>
                <c:pt idx="2">
                  <c:v>15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6B7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9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6B7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9232E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Taux mesuré</c:v>
          </c:tx>
          <c:spPr>
            <a:solidFill xmlns:a="http://schemas.openxmlformats.org/drawingml/2006/main">
              <a:srgbClr val="002060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385723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ED7D31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Validation
36 phrases</c:v>
                </c:pt>
                <c:pt idx="1">
                  <c:v>Test indépendant
45 phrases</c:v>
                </c:pt>
                <c:pt idx="2">
                  <c:v>Sûreté
15 scénarios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0.9722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0.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00206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6B7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8DE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6B7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7D174-EFE4-44F0-AB6B-C698FFF5F6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846fb045d4a1b"/>
          <a:stretch xmlns:a="http://schemas.openxmlformats.org/drawingml/2006/main"/>
        </p:blipFill>
        <p:spPr>
          <a:xfrm xmlns:a="http://schemas.openxmlformats.org/drawingml/2006/main">
            <a:off x="0" y="343"/>
            <a:ext cx="12192000" cy="1370915"/>
          </a:xfrm>
          <a:prstGeom xmlns:a="http://schemas.openxmlformats.org/drawingml/2006/main" prst="rect">
            <a:avLst/>
          </a:prstGeom>
        </p:spPr>
      </p:pic>
      <p:sp>
        <p:nvSpPr>
          <p:cNvPr id="2" name="text-01">
            <a:extLst xmlns:a="http://schemas.openxmlformats.org/drawingml/2006/main">
              <a:ext uri="{FF2B5EF4-FFF2-40B4-BE49-F238E27FC236}">
                <a16:creationId xmlns:a16="http://schemas.microsoft.com/office/drawing/2014/main" id="{7679647B-A1E6-4147-AE7B-0202A44E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B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-NLP Robot&#10;Commander">
            <a:extLst xmlns:a="http://schemas.openxmlformats.org/drawingml/2006/main">
              <a:ext uri="{FF2B5EF4-FFF2-40B4-BE49-F238E27FC236}">
                <a16:creationId xmlns:a16="http://schemas.microsoft.com/office/drawing/2014/main" id="{5246DB8E-CFD7-4188-8BD1-D01AB680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096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l">
              <a:defRPr sz="54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l">
              <a:defRPr sz="54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l">
              <a:defRPr sz="54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l">
              <a:defRPr sz="54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l">
              <a:defRPr sz="54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l">
              <a:defRPr sz="54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l">
              <a:defRPr sz="54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l">
              <a:defRPr sz="54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l">
              <a:defRPr sz="54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NLP Robot</a:t>
            </a:r>
          </a:p>
          <a:p xmlns:a="http://schemas.openxmlformats.org/drawingml/2006/main">
            <a:pPr algn="l">
              <a:defRPr sz="54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Commander</a:t>
            </a:r>
          </a:p>
        </p:txBody>
      </p:sp>
      <p:sp>
        <p:nvSpPr>
          <p:cNvPr id="4" name="text-Commande sûre d’un robot mob">
            <a:extLst xmlns:a="http://schemas.openxmlformats.org/drawingml/2006/main">
              <a:ext uri="{FF2B5EF4-FFF2-40B4-BE49-F238E27FC236}">
                <a16:creationId xmlns:a16="http://schemas.microsoft.com/office/drawing/2014/main" id="{229DEC76-C874-4E81-B71C-8E72FB1C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10025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9232E"/>
                </a:solidFill>
                <a:latin typeface="Arial"/>
                <a:ea typeface="Arial"/>
                <a:cs typeface="Arial"/>
              </a:rPr>
              <a:t>Commande sûre d’un robot mobile</a:t>
            </a:r>
          </a:p>
          <a:p xmlns:a="http://schemas.openxmlformats.org/drawingml/2006/main">
            <a:pPr algn="l">
              <a:defRPr sz="225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9232E"/>
                </a:solidFill>
                <a:latin typeface="Arial"/>
                <a:ea typeface="Arial"/>
                <a:cs typeface="Arial"/>
              </a:rPr>
              <a:t>par langage naturel en français</a:t>
            </a:r>
          </a:p>
        </p:txBody>
      </p:sp>
      <p:sp>
        <p:nvSpPr>
          <p:cNvPr id="5" name="text-Projet HESTIM — version audi">
            <a:extLst xmlns:a="http://schemas.openxmlformats.org/drawingml/2006/main">
              <a:ext uri="{FF2B5EF4-FFF2-40B4-BE49-F238E27FC236}">
                <a16:creationId xmlns:a16="http://schemas.microsoft.com/office/drawing/2014/main" id="{26535972-9844-49B0-9AEE-2B47FB56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054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2060"/>
                </a:solidFill>
                <a:latin typeface="Arial"/>
                <a:ea typeface="Arial"/>
                <a:cs typeface="Arial"/>
              </a:rPr>
              <a:t>Projet HESTIM — version auditée</a:t>
            </a:r>
          </a:p>
        </p:txBody>
      </p:sp>
      <p:sp>
        <p:nvSpPr>
          <p:cNvPr id="6" name="text-22 octobre 2026">
            <a:extLst xmlns:a="http://schemas.openxmlformats.org/drawingml/2006/main">
              <a:ext uri="{FF2B5EF4-FFF2-40B4-BE49-F238E27FC236}">
                <a16:creationId xmlns:a16="http://schemas.microsoft.com/office/drawing/2014/main" id="{009E1678-B250-440E-A1F7-DB5B7CA9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055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6B78"/>
                </a:solidFill>
                <a:latin typeface="Arial"/>
                <a:ea typeface="Arial"/>
                <a:cs typeface="Arial"/>
              </a:rPr>
              <a:t>22 octobre 2026</a:t>
            </a:r>
          </a:p>
        </p:txBody>
      </p:sp>
    </p:spTree>
    <p:extLst>
      <p:ext uri="{BB962C8B-B14F-4D97-AF65-F5344CB8AC3E}">
        <p14:creationId xmlns:p14="http://schemas.microsoft.com/office/powerpoint/2010/main" val="9529874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55F7D-0919-4124-AD43-6145CDD607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77104f0bf4bee"/>
          <a:stretch xmlns:a="http://schemas.openxmlformats.org/drawingml/2006/main"/>
        </p:blipFill>
        <p:spPr>
          <a:xfrm xmlns:a="http://schemas.openxmlformats.org/drawingml/2006/main">
            <a:off x="0" y="343"/>
            <a:ext cx="12192000" cy="1370915"/>
          </a:xfrm>
          <a:prstGeom xmlns:a="http://schemas.openxmlformats.org/drawingml/2006/main" prst="rect">
            <a:avLst/>
          </a:prstGeom>
        </p:spPr>
      </p:pic>
      <p:sp>
        <p:nvSpPr>
          <p:cNvPr id="2" name="text-Trois intentions, un domaine">
            <a:extLst xmlns:a="http://schemas.openxmlformats.org/drawingml/2006/main">
              <a:ext uri="{FF2B5EF4-FFF2-40B4-BE49-F238E27FC236}">
                <a16:creationId xmlns:a16="http://schemas.microsoft.com/office/drawing/2014/main" id="{4BA4F4ED-2D04-44F5-BB60-C8D671DD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34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Trois intentions, un domaine fermé</a:t>
            </a:r>
          </a:p>
        </p:txBody>
      </p:sp>
      <p:sp>
        <p:nvSpPr>
          <p:cNvPr id="3" name="text-02">
            <a:extLst xmlns:a="http://schemas.openxmlformats.org/drawingml/2006/main">
              <a:ext uri="{FF2B5EF4-FFF2-40B4-BE49-F238E27FC236}">
                <a16:creationId xmlns:a16="http://schemas.microsoft.com/office/drawing/2014/main" id="{B851960D-9E10-41C3-B544-C92EF085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B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-Une phrase française devient">
            <a:extLst xmlns:a="http://schemas.openxmlformats.org/drawingml/2006/main">
              <a:ext uri="{FF2B5EF4-FFF2-40B4-BE49-F238E27FC236}">
                <a16:creationId xmlns:a16="http://schemas.microsoft.com/office/drawing/2014/main" id="{F11557AD-2098-4A5C-BFDE-63A66396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0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232E"/>
                </a:solidFill>
                <a:latin typeface="Arial"/>
                <a:ea typeface="Arial"/>
                <a:cs typeface="Arial"/>
              </a:rPr>
              <a:t>Une phrase française devient une décision contrôlée avant toute action.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8A02F-FD2C-4800-A10B-8588D19A3073}"/>
              </a:ext>
            </a:extLst>
          </p:cNvPr>
          <p:cNvGraphicFramePr/>
          <p:nvPr/>
        </p:nvGraphicFramePr>
        <p:xfrm>
          <a:off xmlns:a="http://schemas.openxmlformats.org/drawingml/2006/main" x="609600" y="3067050"/>
          <a:ext xmlns:a="http://schemas.openxmlformats.org/drawingml/2006/main" cx="10972800" cy="2266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90700"/>
                <a:gridCol w="4114800"/>
                <a:gridCol w="5067300"/>
              </a:tblGrid>
              <a:tr h="5667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Intention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T w="12383">
                      <a:solidFill>
                        <a:srgbClr val="FFFFFF"/>
                      </a:solidFill>
                    </a:lnT>
                    <a:lnB w="12383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Exemple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T w="12383">
                      <a:solidFill>
                        <a:srgbClr val="FFFFFF"/>
                      </a:solidFill>
                    </a:lnT>
                    <a:lnB w="12383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T w="12383">
                      <a:solidFill>
                        <a:srgbClr val="FFFFFF"/>
                      </a:solidFill>
                    </a:lnT>
                    <a:lnB w="12383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navigate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Rends-toi dans la cuisine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But vers un waypoint connu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stop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Arrête-toi immédiatement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Annulation suivie jusqu’au résultat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0F3F8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report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Où te trouves-tu ?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TF récente map → base_link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Commandes niées, ambiguës, s">
            <a:extLst xmlns:a="http://schemas.openxmlformats.org/drawingml/2006/main">
              <a:ext uri="{FF2B5EF4-FFF2-40B4-BE49-F238E27FC236}">
                <a16:creationId xmlns:a16="http://schemas.microsoft.com/office/drawing/2014/main" id="{72157042-96CE-4497-ABAF-B78B13B5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00000"/>
                </a:solidFill>
                <a:latin typeface="Arial"/>
                <a:ea typeface="Arial"/>
                <a:cs typeface="Arial"/>
              </a:rPr>
              <a:t>Commandes niées, ambiguës, séquentielles ou hors domaine : refus sans routage.</a:t>
            </a:r>
          </a:p>
        </p:txBody>
      </p:sp>
    </p:spTree>
    <p:extLst>
      <p:ext uri="{BB962C8B-B14F-4D97-AF65-F5344CB8AC3E}">
        <p14:creationId xmlns:p14="http://schemas.microsoft.com/office/powerpoint/2010/main" val="8895455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522A3-2560-45D2-BBC5-98D40FBD4F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a5e17331a47f5"/>
          <a:stretch xmlns:a="http://schemas.openxmlformats.org/drawingml/2006/main"/>
        </p:blipFill>
        <p:spPr>
          <a:xfrm xmlns:a="http://schemas.openxmlformats.org/drawingml/2006/main">
            <a:off x="0" y="343"/>
            <a:ext cx="12192000" cy="1370915"/>
          </a:xfrm>
          <a:prstGeom xmlns:a="http://schemas.openxmlformats.org/drawingml/2006/main" prst="rect">
            <a:avLst/>
          </a:prstGeom>
        </p:spPr>
      </p:pic>
      <p:sp>
        <p:nvSpPr>
          <p:cNvPr id="2" name="text-Architecture modulaire et au">
            <a:extLst xmlns:a="http://schemas.openxmlformats.org/drawingml/2006/main">
              <a:ext uri="{FF2B5EF4-FFF2-40B4-BE49-F238E27FC236}">
                <a16:creationId xmlns:a16="http://schemas.microsoft.com/office/drawing/2014/main" id="{68BF4DB3-2941-4A6C-BE78-477027AC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34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Architecture modulaire et auditable</a:t>
            </a:r>
          </a:p>
        </p:txBody>
      </p:sp>
      <p:sp>
        <p:nvSpPr>
          <p:cNvPr id="3" name="text-03">
            <a:extLst xmlns:a="http://schemas.openxmlformats.org/drawingml/2006/main">
              <a:ext uri="{FF2B5EF4-FFF2-40B4-BE49-F238E27FC236}">
                <a16:creationId xmlns:a16="http://schemas.microsoft.com/office/drawing/2014/main" id="{6C026B8F-E374-40AD-8AA0-2688000A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B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402F2-DB0A-4553-ADE6-D335DEE61F56}"/>
              </a:ext>
            </a:extLst>
          </p:cNvPr>
          <p:cNvGraphicFramePr/>
          <p:nvPr/>
        </p:nvGraphicFramePr>
        <p:xfrm>
          <a:off xmlns:a="http://schemas.openxmlformats.org/drawingml/2006/main" x="609600" y="2419350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810000"/>
                <a:gridCol w="4972050"/>
              </a:tblGrid>
              <a:tr h="5349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Étape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T w="12383">
                      <a:solidFill>
                        <a:srgbClr val="FFFFFF"/>
                      </a:solidFill>
                    </a:lnT>
                    <a:lnB w="12383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Traitement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T w="12383">
                      <a:solidFill>
                        <a:srgbClr val="FFFFFF"/>
                      </a:solidFill>
                    </a:lnT>
                    <a:lnB w="12383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Garantie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T w="12383">
                      <a:solidFill>
                        <a:srgbClr val="FFFFFF"/>
                      </a:solidFill>
                    </a:lnT>
                    <a:lnB w="12383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1  Entrée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UTF-8 + limites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Vide, taille et contrôles vérifiés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2  Sûreté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Règles prioritaires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Négation et séquence bloquées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0F3F8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3  NLP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DistilBERT 3 classes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Labels du checkpoint vérifiés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4  Paramètre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Alias de waypoints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Une destination unique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0F3F8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5  Robot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Nav2 ou TF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Résultat et fraîcheur observés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Le routeur ne reçoit que des">
            <a:extLst xmlns:a="http://schemas.openxmlformats.org/drawingml/2006/main">
              <a:ext uri="{FF2B5EF4-FFF2-40B4-BE49-F238E27FC236}">
                <a16:creationId xmlns:a16="http://schemas.microsoft.com/office/drawing/2014/main" id="{42EE604A-8CF7-4FA0-BEFE-081F59F8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2060"/>
                </a:solidFill>
                <a:latin typeface="Arial"/>
                <a:ea typeface="Arial"/>
                <a:cs typeface="Arial"/>
              </a:rPr>
              <a:t>Le routeur ne reçoit que des décisions déjà acceptées.</a:t>
            </a:r>
          </a:p>
        </p:txBody>
      </p:sp>
    </p:spTree>
    <p:extLst>
      <p:ext uri="{BB962C8B-B14F-4D97-AF65-F5344CB8AC3E}">
        <p14:creationId xmlns:p14="http://schemas.microsoft.com/office/powerpoint/2010/main" val="19349286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D41BE-2E63-4F0E-B8F9-86EF4A7B4C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33fbb19774ed7"/>
          <a:stretch xmlns:a="http://schemas.openxmlformats.org/drawingml/2006/main"/>
        </p:blipFill>
        <p:spPr>
          <a:xfrm xmlns:a="http://schemas.openxmlformats.org/drawingml/2006/main">
            <a:off x="0" y="343"/>
            <a:ext cx="12192000" cy="1370915"/>
          </a:xfrm>
          <a:prstGeom xmlns:a="http://schemas.openxmlformats.org/drawingml/2006/main" prst="rect">
            <a:avLst/>
          </a:prstGeom>
        </p:spPr>
      </p:pic>
      <p:sp>
        <p:nvSpPr>
          <p:cNvPr id="2" name="text-Données séparées, sans fuite">
            <a:extLst xmlns:a="http://schemas.openxmlformats.org/drawingml/2006/main">
              <a:ext uri="{FF2B5EF4-FFF2-40B4-BE49-F238E27FC236}">
                <a16:creationId xmlns:a16="http://schemas.microsoft.com/office/drawing/2014/main" id="{17048370-7099-4F0A-8D2E-FBD0AF47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34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Données séparées, sans fuite détectée</a:t>
            </a:r>
          </a:p>
        </p:txBody>
      </p:sp>
      <p:sp>
        <p:nvSpPr>
          <p:cNvPr id="3" name="text-04">
            <a:extLst xmlns:a="http://schemas.openxmlformats.org/drawingml/2006/main">
              <a:ext uri="{FF2B5EF4-FFF2-40B4-BE49-F238E27FC236}">
                <a16:creationId xmlns:a16="http://schemas.microsoft.com/office/drawing/2014/main" id="{A95E84FA-4063-4E69-83C2-322ED644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B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36BC356-E5FA-40F4-BC8A-96EA20093709}"/>
              </a:ext>
            </a:extLst>
          </p:cNvPr>
          <p:cNvGraphicFramePr/>
          <p:nvPr/>
        </p:nvGraphicFramePr>
        <p:xfrm>
          <a:off xmlns:a="http://schemas.openxmlformats.org/drawingml/2006/main" x="571500" y="2428875"/>
          <a:ext xmlns:a="http://schemas.openxmlformats.org/drawingml/2006/main" cx="7286625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934d179e144864"/>
          </a:graphicData>
        </a:graphic>
      </p:graphicFrame>
      <p:sp>
        <p:nvSpPr>
          <p:cNvPr id="5" name="text-162">
            <a:extLst xmlns:a="http://schemas.openxmlformats.org/drawingml/2006/main">
              <a:ext uri="{FF2B5EF4-FFF2-40B4-BE49-F238E27FC236}">
                <a16:creationId xmlns:a16="http://schemas.microsoft.com/office/drawing/2014/main" id="{1FCDAB90-4E7A-4B08-A885-065EB63E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00325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7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l">
              <a:defRPr sz="487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l">
              <a:defRPr sz="487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l">
              <a:defRPr sz="487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l">
              <a:defRPr sz="487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l">
              <a:defRPr sz="487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l">
              <a:defRPr sz="487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l">
              <a:defRPr sz="487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l">
              <a:defRPr sz="487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l">
              <a:defRPr sz="487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87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162</a:t>
            </a:r>
          </a:p>
        </p:txBody>
      </p:sp>
      <p:sp>
        <p:nvSpPr>
          <p:cNvPr id="6" name="text-phrases de développement">
            <a:extLst xmlns:a="http://schemas.openxmlformats.org/drawingml/2006/main">
              <a:ext uri="{FF2B5EF4-FFF2-40B4-BE49-F238E27FC236}">
                <a16:creationId xmlns:a16="http://schemas.microsoft.com/office/drawing/2014/main" id="{6A0CE366-C0DE-4EFB-8CF8-A9FFC180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813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232E"/>
                </a:solidFill>
                <a:latin typeface="Arial"/>
                <a:ea typeface="Arial"/>
                <a:cs typeface="Arial"/>
              </a:rPr>
              <a:t>phrases de développement</a:t>
            </a:r>
          </a:p>
        </p:txBody>
      </p:sp>
      <p:sp>
        <p:nvSpPr>
          <p:cNvPr id="7" name="text-45">
            <a:extLst xmlns:a="http://schemas.openxmlformats.org/drawingml/2006/main">
              <a:ext uri="{FF2B5EF4-FFF2-40B4-BE49-F238E27FC236}">
                <a16:creationId xmlns:a16="http://schemas.microsoft.com/office/drawing/2014/main" id="{5FCDEA09-D5C9-458C-B9A3-AAE0DCE9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124325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85723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8" name="text-phrases de test indépendante">
            <a:extLst xmlns:a="http://schemas.openxmlformats.org/drawingml/2006/main">
              <a:ext uri="{FF2B5EF4-FFF2-40B4-BE49-F238E27FC236}">
                <a16:creationId xmlns:a16="http://schemas.microsoft.com/office/drawing/2014/main" id="{890C9D67-FA90-4988-8A7F-136C8639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8672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232E"/>
                </a:solidFill>
                <a:latin typeface="Arial"/>
                <a:ea typeface="Arial"/>
                <a:cs typeface="Arial"/>
              </a:rPr>
              <a:t>phrases de test indépendantes</a:t>
            </a:r>
          </a:p>
        </p:txBody>
      </p:sp>
      <p:sp>
        <p:nvSpPr>
          <p:cNvPr id="9" name="text-0 doublon exact • 0 quasi-do">
            <a:extLst xmlns:a="http://schemas.openxmlformats.org/drawingml/2006/main">
              <a:ext uri="{FF2B5EF4-FFF2-40B4-BE49-F238E27FC236}">
                <a16:creationId xmlns:a16="http://schemas.microsoft.com/office/drawing/2014/main" id="{3D3C9E9D-128B-4F27-B5B3-7CCFEAC2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2060"/>
                </a:solidFill>
                <a:latin typeface="Arial"/>
                <a:ea typeface="Arial"/>
                <a:cs typeface="Arial"/>
              </a:rPr>
              <a:t>0 doublon exact • 0 quasi-doublon inter-splits détecté</a:t>
            </a:r>
          </a:p>
        </p:txBody>
      </p:sp>
    </p:spTree>
    <p:extLst>
      <p:ext uri="{BB962C8B-B14F-4D97-AF65-F5344CB8AC3E}">
        <p14:creationId xmlns:p14="http://schemas.microsoft.com/office/powerpoint/2010/main" val="13126628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AC6F5-398E-40C3-B516-9011E328EC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bd48b19a043d3"/>
          <a:stretch xmlns:a="http://schemas.openxmlformats.org/drawingml/2006/main"/>
        </p:blipFill>
        <p:spPr>
          <a:xfrm xmlns:a="http://schemas.openxmlformats.org/drawingml/2006/main">
            <a:off x="0" y="343"/>
            <a:ext cx="12192000" cy="1370915"/>
          </a:xfrm>
          <a:prstGeom xmlns:a="http://schemas.openxmlformats.org/drawingml/2006/main" prst="rect">
            <a:avLst/>
          </a:prstGeom>
        </p:spPr>
      </p:pic>
      <p:sp>
        <p:nvSpPr>
          <p:cNvPr id="2" name="text-Fine-tuning reproductible de">
            <a:extLst xmlns:a="http://schemas.openxmlformats.org/drawingml/2006/main">
              <a:ext uri="{FF2B5EF4-FFF2-40B4-BE49-F238E27FC236}">
                <a16:creationId xmlns:a16="http://schemas.microsoft.com/office/drawing/2014/main" id="{30B7005A-0131-4C5B-BCDD-D34B29D4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34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Fine-tuning reproductible de DistilBERT</a:t>
            </a:r>
          </a:p>
        </p:txBody>
      </p:sp>
      <p:sp>
        <p:nvSpPr>
          <p:cNvPr id="3" name="text-05">
            <a:extLst xmlns:a="http://schemas.openxmlformats.org/drawingml/2006/main">
              <a:ext uri="{FF2B5EF4-FFF2-40B4-BE49-F238E27FC236}">
                <a16:creationId xmlns:a16="http://schemas.microsoft.com/office/drawing/2014/main" id="{FAC186B6-B980-4DF3-B440-C1712A95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B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xt-Pourquoi DistilBERT ?">
            <a:extLst xmlns:a="http://schemas.openxmlformats.org/drawingml/2006/main">
              <a:ext uri="{FF2B5EF4-FFF2-40B4-BE49-F238E27FC236}">
                <a16:creationId xmlns:a16="http://schemas.microsoft.com/office/drawing/2014/main" id="{DA2F100D-51C5-4E04-9AEA-21A5A016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Pourquoi DistilBERT ?</a:t>
            </a:r>
          </a:p>
        </p:txBody>
      </p:sp>
      <p:sp>
        <p:nvSpPr>
          <p:cNvPr id="5" name="text-Encodeur multilingue préentr">
            <a:extLst xmlns:a="http://schemas.openxmlformats.org/drawingml/2006/main">
              <a:ext uri="{FF2B5EF4-FFF2-40B4-BE49-F238E27FC236}">
                <a16:creationId xmlns:a16="http://schemas.microsoft.com/office/drawing/2014/main" id="{91EF4F35-0D49-43E3-BAF3-7D475F60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476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232E"/>
                </a:solidFill>
                <a:latin typeface="Arial"/>
                <a:ea typeface="Arial"/>
                <a:cs typeface="Arial"/>
              </a:rPr>
              <a:t>Encodeur multilingue préentraîné, adapté à un petit corpus français et plus léger que BERT complet.</a:t>
            </a:r>
          </a:p>
        </p:txBody>
      </p:sp>
      <p:sp>
        <p:nvSpPr>
          <p:cNvPr id="6" name="text-Le checkpoint doit exposer e">
            <a:extLst xmlns:a="http://schemas.openxmlformats.org/drawingml/2006/main">
              <a:ext uri="{FF2B5EF4-FFF2-40B4-BE49-F238E27FC236}">
                <a16:creationId xmlns:a16="http://schemas.microsoft.com/office/drawing/2014/main" id="{E266B45D-31FB-4AA8-A721-C312C89D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00000"/>
                </a:solidFill>
                <a:latin typeface="Arial"/>
                <a:ea typeface="Arial"/>
                <a:cs typeface="Arial"/>
              </a:rPr>
              <a:t>Le checkpoint doit exposer exactement les trois labels attendus.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C69D8-34F7-4EED-B299-AF5DCC2F75F4}"/>
              </a:ext>
            </a:extLst>
          </p:cNvPr>
          <p:cNvGraphicFramePr/>
          <p:nvPr/>
        </p:nvGraphicFramePr>
        <p:xfrm>
          <a:off xmlns:a="http://schemas.openxmlformats.org/drawingml/2006/main" x="5695950" y="2457450"/>
          <a:ext xmlns:a="http://schemas.openxmlformats.org/drawingml/2006/main" cx="5886450" cy="3057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7575"/>
                <a:gridCol w="2428875"/>
              </a:tblGrid>
              <a:tr h="5095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Réglage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T w="12383">
                      <a:solidFill>
                        <a:srgbClr val="FFFFFF"/>
                      </a:solidFill>
                    </a:lnT>
                    <a:lnB w="12383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Valeur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T w="12383">
                      <a:solidFill>
                        <a:srgbClr val="FFFFFF"/>
                      </a:solidFill>
                    </a:lnT>
                    <a:lnB w="12383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5095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Époques maximales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95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Batch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0F3F8"/>
                    </a:solidFill>
                  </a:tcPr>
                </a:tc>
              </a:tr>
              <a:tr h="5095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Learning rate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0,00002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95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Graine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42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0F3F8"/>
                    </a:solidFill>
                  </a:tcPr>
                </a:tc>
              </a:tr>
              <a:tr h="5095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Longueur maximale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128 tokens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Sélection : meilleur F1 macr">
            <a:extLst xmlns:a="http://schemas.openxmlformats.org/drawingml/2006/main">
              <a:ext uri="{FF2B5EF4-FFF2-40B4-BE49-F238E27FC236}">
                <a16:creationId xmlns:a16="http://schemas.microsoft.com/office/drawing/2014/main" id="{A6297131-B911-4988-90B7-09DA74FB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2060"/>
                </a:solidFill>
                <a:latin typeface="Arial"/>
                <a:ea typeface="Arial"/>
                <a:cs typeface="Arial"/>
              </a:rPr>
              <a:t>Sélection : meilleur F1 macro sur 36 phrases de validation.</a:t>
            </a:r>
          </a:p>
        </p:txBody>
      </p:sp>
    </p:spTree>
    <p:extLst>
      <p:ext uri="{BB962C8B-B14F-4D97-AF65-F5344CB8AC3E}">
        <p14:creationId xmlns:p14="http://schemas.microsoft.com/office/powerpoint/2010/main" val="21418702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F0A81-DA5D-499B-A772-FB9AD05F98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632a7c70e41f9"/>
          <a:stretch xmlns:a="http://schemas.openxmlformats.org/drawingml/2006/main"/>
        </p:blipFill>
        <p:spPr>
          <a:xfrm xmlns:a="http://schemas.openxmlformats.org/drawingml/2006/main">
            <a:off x="0" y="343"/>
            <a:ext cx="12192000" cy="1370915"/>
          </a:xfrm>
          <a:prstGeom xmlns:a="http://schemas.openxmlformats.org/drawingml/2006/main" prst="rect">
            <a:avLst/>
          </a:prstGeom>
        </p:spPr>
      </p:pic>
      <p:sp>
        <p:nvSpPr>
          <p:cNvPr id="2" name="text-Garde-fous avant l’action">
            <a:extLst xmlns:a="http://schemas.openxmlformats.org/drawingml/2006/main">
              <a:ext uri="{FF2B5EF4-FFF2-40B4-BE49-F238E27FC236}">
                <a16:creationId xmlns:a16="http://schemas.microsoft.com/office/drawing/2014/main" id="{5A18D463-E3C6-48E4-8AEF-9C7B08A8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34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Garde-fous avant l’action</a:t>
            </a:r>
          </a:p>
        </p:txBody>
      </p:sp>
      <p:sp>
        <p:nvSpPr>
          <p:cNvPr id="3" name="text-06">
            <a:extLst xmlns:a="http://schemas.openxmlformats.org/drawingml/2006/main">
              <a:ext uri="{FF2B5EF4-FFF2-40B4-BE49-F238E27FC236}">
                <a16:creationId xmlns:a16="http://schemas.microsoft.com/office/drawing/2014/main" id="{1EBAE919-771E-4BA6-A921-2624F82F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B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4EC72-D4FE-474E-B655-438945E57C0A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10972800" cy="2686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48425"/>
                <a:gridCol w="4524375"/>
              </a:tblGrid>
              <a:tr h="53721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Commande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T w="12383">
                      <a:solidFill>
                        <a:srgbClr val="FFFFFF"/>
                      </a:solidFill>
                    </a:lnT>
                    <a:lnB w="12383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Décision attendue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T w="12383">
                      <a:solidFill>
                        <a:srgbClr val="FFFFFF"/>
                      </a:solidFill>
                    </a:lnT>
                    <a:lnB w="12383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Ne va pas dans la cuisine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Refus : navigation niée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Va dans la cuisine pas dans le salon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Refus : plusieurs destinations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0F3F8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Va dans la cuisine puis dans le laboratoire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Refus : séquence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Arrête-toi immédiatement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Arrêt accepté avec priorité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sp>
        <p:nvSpPr>
          <p:cNvPr id="5" name="text-15/15 scénarios adversariaux">
            <a:extLst xmlns:a="http://schemas.openxmlformats.org/drawingml/2006/main">
              <a:ext uri="{FF2B5EF4-FFF2-40B4-BE49-F238E27FC236}">
                <a16:creationId xmlns:a16="http://schemas.microsoft.com/office/drawing/2014/main" id="{37B06248-8B01-49FE-872E-B604CF69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8572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38572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38572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38572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38572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38572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38572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38572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38572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38572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8572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85723"/>
                </a:solidFill>
                <a:latin typeface="Arial"/>
                <a:ea typeface="Arial"/>
                <a:cs typeface="Arial"/>
              </a:rPr>
              <a:t>15/15 scénarios adversariaux conformes avec le checkpoint.</a:t>
            </a:r>
          </a:p>
        </p:txBody>
      </p:sp>
    </p:spTree>
    <p:extLst>
      <p:ext uri="{BB962C8B-B14F-4D97-AF65-F5344CB8AC3E}">
        <p14:creationId xmlns:p14="http://schemas.microsoft.com/office/powerpoint/2010/main" val="7927788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E8CCF-3269-4770-B922-9DF796BE41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6e021dd554a63"/>
          <a:stretch xmlns:a="http://schemas.openxmlformats.org/drawingml/2006/main"/>
        </p:blipFill>
        <p:spPr>
          <a:xfrm xmlns:a="http://schemas.openxmlformats.org/drawingml/2006/main">
            <a:off x="0" y="343"/>
            <a:ext cx="12192000" cy="1370915"/>
          </a:xfrm>
          <a:prstGeom xmlns:a="http://schemas.openxmlformats.org/drawingml/2006/main" prst="rect">
            <a:avLst/>
          </a:prstGeom>
        </p:spPr>
      </p:pic>
      <p:sp>
        <p:nvSpPr>
          <p:cNvPr id="2" name="text-ROS 2 : interfaces et respon">
            <a:extLst xmlns:a="http://schemas.openxmlformats.org/drawingml/2006/main">
              <a:ext uri="{FF2B5EF4-FFF2-40B4-BE49-F238E27FC236}">
                <a16:creationId xmlns:a16="http://schemas.microsoft.com/office/drawing/2014/main" id="{2A48A893-74E0-4D2A-8745-27ED4F25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34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ROS 2 : interfaces et responsabilités</a:t>
            </a:r>
          </a:p>
        </p:txBody>
      </p:sp>
      <p:sp>
        <p:nvSpPr>
          <p:cNvPr id="3" name="text-07">
            <a:extLst xmlns:a="http://schemas.openxmlformats.org/drawingml/2006/main">
              <a:ext uri="{FF2B5EF4-FFF2-40B4-BE49-F238E27FC236}">
                <a16:creationId xmlns:a16="http://schemas.microsoft.com/office/drawing/2014/main" id="{29703486-D5C1-4511-AE3C-E77BB682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B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62275-21AA-4568-A7B2-F6E9200AD359}"/>
              </a:ext>
            </a:extLst>
          </p:cNvPr>
          <p:cNvGraphicFramePr/>
          <p:nvPr/>
        </p:nvGraphicFramePr>
        <p:xfrm>
          <a:off xmlns:a="http://schemas.openxmlformats.org/drawingml/2006/main" x="609600" y="2695575"/>
          <a:ext xmlns:a="http://schemas.openxmlformats.org/drawingml/2006/main" cx="6858000" cy="245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333625"/>
                <a:gridCol w="2905125"/>
              </a:tblGrid>
              <a:tr h="6143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Opération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T w="12383">
                      <a:solidFill>
                        <a:srgbClr val="FFFFFF"/>
                      </a:solidFill>
                    </a:lnT>
                    <a:lnB w="12383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Interface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T w="12383">
                      <a:solidFill>
                        <a:srgbClr val="FFFFFF"/>
                      </a:solidFill>
                    </a:lnT>
                    <a:lnB w="12383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Preuve attendue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T w="12383">
                      <a:solidFill>
                        <a:srgbClr val="FFFFFF"/>
                      </a:solidFill>
                    </a:lnT>
                    <a:lnB w="12383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6143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navigate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/navigate_to_pose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But accepté puis résultat Nav2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43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stop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cancel_goal_async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Résultat canceled ou absence de but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0F3F8"/>
                    </a:solidFill>
                  </a:tcPr>
                </a:tc>
              </a:tr>
              <a:tr h="6143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report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TF map → base_link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Timestamp récent et pose mesurée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19F50-0BAF-4274-B8A6-BBB80C1BC1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4e14187d240dd"/>
          <a:stretch xmlns:a="http://schemas.openxmlformats.org/drawingml/2006/main"/>
        </p:blipFill>
        <p:spPr>
          <a:xfrm xmlns:a="http://schemas.openxmlformats.org/drawingml/2006/main">
            <a:off x="7953375" y="2334193"/>
            <a:ext cx="3286125" cy="3008764"/>
          </a:xfrm>
          <a:prstGeom xmlns:a="http://schemas.openxmlformats.org/drawingml/2006/main" prst="rect">
            <a:avLst/>
          </a:prstGeom>
        </p:spPr>
      </p:pic>
      <p:sp>
        <p:nvSpPr>
          <p:cNvPr id="6" name="text-Plateforme cible : TurtleBot">
            <a:extLst xmlns:a="http://schemas.openxmlformats.org/drawingml/2006/main">
              <a:ext uri="{FF2B5EF4-FFF2-40B4-BE49-F238E27FC236}">
                <a16:creationId xmlns:a16="http://schemas.microsoft.com/office/drawing/2014/main" id="{ADC62DB3-A853-494C-BC1B-4BA0568B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4768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6B78"/>
                </a:solidFill>
                <a:latin typeface="Arial"/>
                <a:ea typeface="Arial"/>
                <a:cs typeface="Arial"/>
              </a:rPr>
              <a:t>Plateforme cible : TurtleBot3 Burger</a:t>
            </a:r>
          </a:p>
        </p:txBody>
      </p:sp>
      <p:sp>
        <p:nvSpPr>
          <p:cNvPr id="7" name="text-Waypoints fournis à recalibr">
            <a:extLst xmlns:a="http://schemas.openxmlformats.org/drawingml/2006/main">
              <a:ext uri="{FF2B5EF4-FFF2-40B4-BE49-F238E27FC236}">
                <a16:creationId xmlns:a16="http://schemas.microsoft.com/office/drawing/2014/main" id="{33EEE780-59E0-405A-AEC2-7F41E77E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00000"/>
                </a:solidFill>
                <a:latin typeface="Arial"/>
                <a:ea typeface="Arial"/>
                <a:cs typeface="Arial"/>
              </a:rPr>
              <a:t>Waypoints fournis à recalibrer sur la carte de démonstration.</a:t>
            </a:r>
          </a:p>
        </p:txBody>
      </p:sp>
    </p:spTree>
    <p:extLst>
      <p:ext uri="{BB962C8B-B14F-4D97-AF65-F5344CB8AC3E}">
        <p14:creationId xmlns:p14="http://schemas.microsoft.com/office/powerpoint/2010/main" val="10101695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9AD768-1C0D-40A8-A3C3-D0367D42D6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268ff19f2425d"/>
          <a:stretch xmlns:a="http://schemas.openxmlformats.org/drawingml/2006/main"/>
        </p:blipFill>
        <p:spPr>
          <a:xfrm xmlns:a="http://schemas.openxmlformats.org/drawingml/2006/main">
            <a:off x="0" y="343"/>
            <a:ext cx="12192000" cy="1370915"/>
          </a:xfrm>
          <a:prstGeom xmlns:a="http://schemas.openxmlformats.org/drawingml/2006/main" prst="rect">
            <a:avLst/>
          </a:prstGeom>
        </p:spPr>
      </p:pic>
      <p:sp>
        <p:nvSpPr>
          <p:cNvPr id="2" name="text-Arrêt : demander n’est pas c">
            <a:extLst xmlns:a="http://schemas.openxmlformats.org/drawingml/2006/main">
              <a:ext uri="{FF2B5EF4-FFF2-40B4-BE49-F238E27FC236}">
                <a16:creationId xmlns:a16="http://schemas.microsoft.com/office/drawing/2014/main" id="{AF125B92-58DD-459A-BFCA-E7AF3437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34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Arrêt : demander n’est pas confirmer</a:t>
            </a:r>
          </a:p>
        </p:txBody>
      </p:sp>
      <p:sp>
        <p:nvSpPr>
          <p:cNvPr id="3" name="text-08">
            <a:extLst xmlns:a="http://schemas.openxmlformats.org/drawingml/2006/main">
              <a:ext uri="{FF2B5EF4-FFF2-40B4-BE49-F238E27FC236}">
                <a16:creationId xmlns:a16="http://schemas.microsoft.com/office/drawing/2014/main" id="{9404AD8A-BF1E-47B6-BEE7-5F4EF5D6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B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text-1">
            <a:extLst xmlns:a="http://schemas.openxmlformats.org/drawingml/2006/main">
              <a:ext uri="{FF2B5EF4-FFF2-40B4-BE49-F238E27FC236}">
                <a16:creationId xmlns:a16="http://schemas.microsoft.com/office/drawing/2014/main" id="{EA338B49-4912-495C-80A2-C12D08A9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241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text-stop_received">
            <a:extLst xmlns:a="http://schemas.openxmlformats.org/drawingml/2006/main">
              <a:ext uri="{FF2B5EF4-FFF2-40B4-BE49-F238E27FC236}">
                <a16:creationId xmlns:a16="http://schemas.microsoft.com/office/drawing/2014/main" id="{6C759757-4248-4295-A1B7-DBB4F160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4861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stop_received</a:t>
            </a:r>
          </a:p>
        </p:txBody>
      </p:sp>
      <p:sp>
        <p:nvSpPr>
          <p:cNvPr id="6" name="text-→">
            <a:extLst xmlns:a="http://schemas.openxmlformats.org/drawingml/2006/main">
              <a:ext uri="{FF2B5EF4-FFF2-40B4-BE49-F238E27FC236}">
                <a16:creationId xmlns:a16="http://schemas.microsoft.com/office/drawing/2014/main" id="{EBD676B9-F3EB-4EB9-8004-3A23675F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3370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text-2">
            <a:extLst xmlns:a="http://schemas.openxmlformats.org/drawingml/2006/main">
              <a:ext uri="{FF2B5EF4-FFF2-40B4-BE49-F238E27FC236}">
                <a16:creationId xmlns:a16="http://schemas.microsoft.com/office/drawing/2014/main" id="{6651E194-F73F-4AAB-8A22-F32F37B5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241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text-cancellation_requested">
            <a:extLst xmlns:a="http://schemas.openxmlformats.org/drawingml/2006/main">
              <a:ext uri="{FF2B5EF4-FFF2-40B4-BE49-F238E27FC236}">
                <a16:creationId xmlns:a16="http://schemas.microsoft.com/office/drawing/2014/main" id="{09C26158-C269-4F8C-914D-9E4F694F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861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cancellation_requested</a:t>
            </a:r>
          </a:p>
        </p:txBody>
      </p:sp>
      <p:sp>
        <p:nvSpPr>
          <p:cNvPr id="9" name="text-→">
            <a:extLst xmlns:a="http://schemas.openxmlformats.org/drawingml/2006/main">
              <a:ext uri="{FF2B5EF4-FFF2-40B4-BE49-F238E27FC236}">
                <a16:creationId xmlns:a16="http://schemas.microsoft.com/office/drawing/2014/main" id="{C7F2C28B-C02A-40C2-881D-AF194DE7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93370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text-3">
            <a:extLst xmlns:a="http://schemas.openxmlformats.org/drawingml/2006/main">
              <a:ext uri="{FF2B5EF4-FFF2-40B4-BE49-F238E27FC236}">
                <a16:creationId xmlns:a16="http://schemas.microsoft.com/office/drawing/2014/main" id="{2F0D9226-57CC-4AD7-9012-17A607DF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241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1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text-cancellation_accepted">
            <a:extLst xmlns:a="http://schemas.openxmlformats.org/drawingml/2006/main">
              <a:ext uri="{FF2B5EF4-FFF2-40B4-BE49-F238E27FC236}">
                <a16:creationId xmlns:a16="http://schemas.microsoft.com/office/drawing/2014/main" id="{375FD195-8709-458A-BF0A-2993F7F2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861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cancellation_accepted</a:t>
            </a:r>
          </a:p>
        </p:txBody>
      </p:sp>
      <p:sp>
        <p:nvSpPr>
          <p:cNvPr id="12" name="text-→">
            <a:extLst xmlns:a="http://schemas.openxmlformats.org/drawingml/2006/main">
              <a:ext uri="{FF2B5EF4-FFF2-40B4-BE49-F238E27FC236}">
                <a16:creationId xmlns:a16="http://schemas.microsoft.com/office/drawing/2014/main" id="{77FBE5C7-9CA4-430C-8BA7-F98B48EA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3370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text-4">
            <a:extLst xmlns:a="http://schemas.openxmlformats.org/drawingml/2006/main">
              <a:ext uri="{FF2B5EF4-FFF2-40B4-BE49-F238E27FC236}">
                <a16:creationId xmlns:a16="http://schemas.microsoft.com/office/drawing/2014/main" id="{F4950581-DB49-4F1A-BF7C-C959E162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7241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125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defPPr>
            <a:lvl1pPr algn="ctr">
              <a:defRPr sz="4125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1pPr>
            <a:lvl2pPr algn="ctr">
              <a:defRPr sz="4125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2pPr>
            <a:lvl3pPr algn="ctr">
              <a:defRPr sz="4125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3pPr>
            <a:lvl4pPr algn="ctr">
              <a:defRPr sz="4125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4pPr>
            <a:lvl5pPr algn="ctr">
              <a:defRPr sz="4125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5pPr>
            <a:lvl6pPr algn="ctr">
              <a:defRPr sz="4125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6pPr>
            <a:lvl7pPr algn="ctr">
              <a:defRPr sz="4125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7pPr>
            <a:lvl8pPr algn="ctr">
              <a:defRPr sz="4125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8pPr>
            <a:lvl9pPr algn="ctr">
              <a:defRPr sz="4125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125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38572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text-stop_confirmed">
            <a:extLst xmlns:a="http://schemas.openxmlformats.org/drawingml/2006/main">
              <a:ext uri="{FF2B5EF4-FFF2-40B4-BE49-F238E27FC236}">
                <a16:creationId xmlns:a16="http://schemas.microsoft.com/office/drawing/2014/main" id="{E74C9D8D-6701-46DE-8AC5-7E1D7E50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61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85723"/>
                </a:solidFill>
                <a:latin typeface="Arial"/>
                <a:ea typeface="Arial"/>
                <a:cs typeface="Arial"/>
              </a:rPr>
              <a:t>stop_confirmed</a:t>
            </a:r>
          </a:p>
        </p:txBody>
      </p:sp>
      <p:sp>
        <p:nvSpPr>
          <p:cNvPr id="15" name="text-ou">
            <a:extLst xmlns:a="http://schemas.openxmlformats.org/drawingml/2006/main">
              <a:ext uri="{FF2B5EF4-FFF2-40B4-BE49-F238E27FC236}">
                <a16:creationId xmlns:a16="http://schemas.microsoft.com/office/drawing/2014/main" id="{622E8DC1-E330-4F5D-87F5-CA53BD49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9560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06B78"/>
                </a:solidFill>
                <a:latin typeface="Arial"/>
                <a:ea typeface="Arial"/>
                <a:cs typeface="Arial"/>
              </a:rPr>
              <a:t>ou</a:t>
            </a:r>
          </a:p>
        </p:txBody>
      </p:sp>
      <p:sp>
        <p:nvSpPr>
          <p:cNvPr id="16" name="text-!">
            <a:extLst xmlns:a="http://schemas.openxmlformats.org/drawingml/2006/main">
              <a:ext uri="{FF2B5EF4-FFF2-40B4-BE49-F238E27FC236}">
                <a16:creationId xmlns:a16="http://schemas.microsoft.com/office/drawing/2014/main" id="{4EE01651-13CB-4A5C-A40B-5BFC250D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7241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 algn="ctr">
              <a:defRPr sz="4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4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4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4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4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4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4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4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4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41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7" name="text-stop_unconfirmed">
            <a:extLst xmlns:a="http://schemas.openxmlformats.org/drawingml/2006/main">
              <a:ext uri="{FF2B5EF4-FFF2-40B4-BE49-F238E27FC236}">
                <a16:creationId xmlns:a16="http://schemas.microsoft.com/office/drawing/2014/main" id="{A0F2541E-7318-4E5C-873B-694A3D3B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861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stop_unconfirmed</a:t>
            </a:r>
          </a:p>
        </p:txBody>
      </p:sp>
      <p:sp>
        <p:nvSpPr>
          <p:cNvPr id="18" name="text-Un Twist nul optionnel ne co">
            <a:extLst xmlns:a="http://schemas.openxmlformats.org/drawingml/2006/main">
              <a:ext uri="{FF2B5EF4-FFF2-40B4-BE49-F238E27FC236}">
                <a16:creationId xmlns:a16="http://schemas.microsoft.com/office/drawing/2014/main" id="{202BC409-CDD6-4618-A83A-5779726E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00000"/>
                </a:solidFill>
                <a:latin typeface="Arial"/>
                <a:ea typeface="Arial"/>
                <a:cs typeface="Arial"/>
              </a:rPr>
              <a:t>Un Twist nul optionnel ne constitue jamais une confirmation Nav2.</a:t>
            </a:r>
          </a:p>
        </p:txBody>
      </p:sp>
    </p:spTree>
    <p:extLst>
      <p:ext uri="{BB962C8B-B14F-4D97-AF65-F5344CB8AC3E}">
        <p14:creationId xmlns:p14="http://schemas.microsoft.com/office/powerpoint/2010/main" val="14443188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06B89-2DED-44D7-BDE6-9A8A394787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a55d37f74b4809"/>
          <a:stretch xmlns:a="http://schemas.openxmlformats.org/drawingml/2006/main"/>
        </p:blipFill>
        <p:spPr>
          <a:xfrm xmlns:a="http://schemas.openxmlformats.org/drawingml/2006/main">
            <a:off x="0" y="343"/>
            <a:ext cx="12192000" cy="1370915"/>
          </a:xfrm>
          <a:prstGeom xmlns:a="http://schemas.openxmlformats.org/drawingml/2006/main" prst="rect">
            <a:avLst/>
          </a:prstGeom>
        </p:spPr>
      </p:pic>
      <p:sp>
        <p:nvSpPr>
          <p:cNvPr id="2" name="text-Résultats NLP mesurés">
            <a:extLst xmlns:a="http://schemas.openxmlformats.org/drawingml/2006/main">
              <a:ext uri="{FF2B5EF4-FFF2-40B4-BE49-F238E27FC236}">
                <a16:creationId xmlns:a16="http://schemas.microsoft.com/office/drawing/2014/main" id="{0A24F3FB-7191-40FD-B207-40449BAE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34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Résultats NLP mesurés</a:t>
            </a:r>
          </a:p>
        </p:txBody>
      </p:sp>
      <p:sp>
        <p:nvSpPr>
          <p:cNvPr id="3" name="text-09">
            <a:extLst xmlns:a="http://schemas.openxmlformats.org/drawingml/2006/main">
              <a:ext uri="{FF2B5EF4-FFF2-40B4-BE49-F238E27FC236}">
                <a16:creationId xmlns:a16="http://schemas.microsoft.com/office/drawing/2014/main" id="{583C2090-8848-45B6-A603-C9A03844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B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18BF1D7-A5BE-4808-9DED-02AB91365738}"/>
              </a:ext>
            </a:extLst>
          </p:cNvPr>
          <p:cNvGraphicFramePr/>
          <p:nvPr/>
        </p:nvGraphicFramePr>
        <p:xfrm>
          <a:off xmlns:a="http://schemas.openxmlformats.org/drawingml/2006/main" x="571500" y="2524125"/>
          <a:ext xmlns:a="http://schemas.openxmlformats.org/drawingml/2006/main" cx="7239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106dfd98474387"/>
          </a:graphicData>
        </a:graphic>
      </p:graphicFrame>
      <p:sp>
        <p:nvSpPr>
          <p:cNvPr id="5" name="text-97,22 %">
            <a:extLst xmlns:a="http://schemas.openxmlformats.org/drawingml/2006/main">
              <a:ext uri="{FF2B5EF4-FFF2-40B4-BE49-F238E27FC236}">
                <a16:creationId xmlns:a16="http://schemas.microsoft.com/office/drawing/2014/main" id="{22D9E643-2678-4979-B809-5331C2DE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432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97,22 %</a:t>
            </a:r>
          </a:p>
        </p:txBody>
      </p:sp>
      <p:sp>
        <p:nvSpPr>
          <p:cNvPr id="6" name="text-F1 macro validation">
            <a:extLst xmlns:a="http://schemas.openxmlformats.org/drawingml/2006/main">
              <a:ext uri="{FF2B5EF4-FFF2-40B4-BE49-F238E27FC236}">
                <a16:creationId xmlns:a16="http://schemas.microsoft.com/office/drawing/2014/main" id="{21F558AD-A899-49B3-864E-86756EDB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528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232E"/>
                </a:solidFill>
                <a:latin typeface="Arial"/>
                <a:ea typeface="Arial"/>
                <a:cs typeface="Arial"/>
              </a:rPr>
              <a:t>F1 macro validation</a:t>
            </a:r>
          </a:p>
        </p:txBody>
      </p:sp>
      <p:sp>
        <p:nvSpPr>
          <p:cNvPr id="7" name="text-100 %">
            <a:extLst xmlns:a="http://schemas.openxmlformats.org/drawingml/2006/main">
              <a:ext uri="{FF2B5EF4-FFF2-40B4-BE49-F238E27FC236}">
                <a16:creationId xmlns:a16="http://schemas.microsoft.com/office/drawing/2014/main" id="{331E006C-EB74-411C-A11A-2B437327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8625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85723"/>
                </a:solidFill>
                <a:latin typeface="Arial"/>
                <a:ea typeface="Arial"/>
                <a:cs typeface="Arial"/>
              </a:rPr>
              <a:t>100 %</a:t>
            </a:r>
          </a:p>
        </p:txBody>
      </p:sp>
      <p:sp>
        <p:nvSpPr>
          <p:cNvPr id="8" name="text-F1 macro test indépendant">
            <a:extLst xmlns:a="http://schemas.openxmlformats.org/drawingml/2006/main">
              <a:ext uri="{FF2B5EF4-FFF2-40B4-BE49-F238E27FC236}">
                <a16:creationId xmlns:a16="http://schemas.microsoft.com/office/drawing/2014/main" id="{74200F8E-FBA1-4512-99F2-3A98580D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0482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9232E"/>
                </a:solidFill>
                <a:latin typeface="Arial"/>
                <a:ea typeface="Arial"/>
                <a:cs typeface="Arial"/>
              </a:rPr>
              <a:t>F1 macro test indépendant</a:t>
            </a:r>
          </a:p>
        </p:txBody>
      </p:sp>
      <p:sp>
        <p:nvSpPr>
          <p:cNvPr id="9" name="text-34 tests logiciels réussis •">
            <a:extLst xmlns:a="http://schemas.openxmlformats.org/drawingml/2006/main">
              <a:ext uri="{FF2B5EF4-FFF2-40B4-BE49-F238E27FC236}">
                <a16:creationId xmlns:a16="http://schemas.microsoft.com/office/drawing/2014/main" id="{6791ADDE-D53D-4E1A-A48A-0ECFCC27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2060"/>
                </a:solidFill>
                <a:latin typeface="Arial"/>
                <a:ea typeface="Arial"/>
                <a:cs typeface="Arial"/>
              </a:rPr>
              <a:t>34 tests logiciels réussis • 45/45 décisions valides acceptées</a:t>
            </a:r>
          </a:p>
        </p:txBody>
      </p:sp>
    </p:spTree>
    <p:extLst>
      <p:ext uri="{BB962C8B-B14F-4D97-AF65-F5344CB8AC3E}">
        <p14:creationId xmlns:p14="http://schemas.microsoft.com/office/powerpoint/2010/main" val="5423182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B0600-D9E9-49C0-B42C-1EA02D9340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32f7cea9a4334"/>
          <a:stretch xmlns:a="http://schemas.openxmlformats.org/drawingml/2006/main"/>
        </p:blipFill>
        <p:spPr>
          <a:xfrm xmlns:a="http://schemas.openxmlformats.org/drawingml/2006/main">
            <a:off x="0" y="343"/>
            <a:ext cx="12192000" cy="1370915"/>
          </a:xfrm>
          <a:prstGeom xmlns:a="http://schemas.openxmlformats.org/drawingml/2006/main" prst="rect">
            <a:avLst/>
          </a:prstGeom>
        </p:spPr>
      </p:pic>
      <p:sp>
        <p:nvSpPr>
          <p:cNvPr id="2" name="text-Ce qui reste à prouver dans ">
            <a:extLst xmlns:a="http://schemas.openxmlformats.org/drawingml/2006/main">
              <a:ext uri="{FF2B5EF4-FFF2-40B4-BE49-F238E27FC236}">
                <a16:creationId xmlns:a16="http://schemas.microsoft.com/office/drawing/2014/main" id="{B5D9951B-C7E6-4984-99E8-AF559D15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34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Ce qui reste à prouver dans Gazebo</a:t>
            </a:r>
          </a:p>
        </p:txBody>
      </p:sp>
      <p:sp>
        <p:nvSpPr>
          <p:cNvPr id="3" name="text-10">
            <a:extLst xmlns:a="http://schemas.openxmlformats.org/drawingml/2006/main">
              <a:ext uri="{FF2B5EF4-FFF2-40B4-BE49-F238E27FC236}">
                <a16:creationId xmlns:a16="http://schemas.microsoft.com/office/drawing/2014/main" id="{5B5546BE-3B0B-4314-A35A-CC98379D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B7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D426C-51E3-4A3A-BEF1-2E990716F729}"/>
              </a:ext>
            </a:extLst>
          </p:cNvPr>
          <p:cNvGraphicFramePr/>
          <p:nvPr/>
        </p:nvGraphicFramePr>
        <p:xfrm>
          <a:off xmlns:a="http://schemas.openxmlformats.org/drawingml/2006/main" x="609600" y="2552700"/>
          <a:ext xmlns:a="http://schemas.openxmlformats.org/drawingml/2006/main" cx="109728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71950"/>
                <a:gridCol w="6800850"/>
              </a:tblGrid>
              <a:tr h="463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Scénario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T w="12383">
                      <a:solidFill>
                        <a:srgbClr val="FFFFFF"/>
                      </a:solidFill>
                    </a:lnT>
                    <a:lnB w="12383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Observation à enregistrer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T w="12383">
                      <a:solidFill>
                        <a:srgbClr val="FFFFFF"/>
                      </a:solidFill>
                    </a:lnT>
                    <a:lnB w="12383">
                      <a:solidFill>
                        <a:srgbClr val="FFFFFF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Waypoint calibré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Arrivée, échec ou but inaccessible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Arrêt pendant un trajet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Résultat canceled et immobilisation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0F3F8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Arrêt sans but actif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Confirmation no_active_goal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Rapport de position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Pose cohérente avec TF et RViz2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0F3F8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TF absente ou ancienne</a:t>
                      </a:r>
                    </a:p>
                  </a:txBody>
                  <a:tcPr marL="114300" marR="114300" marT="66675" marB="66675" anchor="ctr">
                    <a:lnL w="12383">
                      <a:solidFill>
                        <a:srgbClr val="FFFFFF"/>
                      </a:solidFill>
                    </a:lnL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32E"/>
                          </a:solidFill>
                          <a:latin typeface="Arial"/>
                          <a:ea typeface="Arial"/>
                          <a:cs typeface="Arial"/>
                        </a:rPr>
                        <a:t>Statut unavailable ou stale</a:t>
                      </a:r>
                    </a:p>
                  </a:txBody>
                  <a:tcPr marL="114300" marR="114300" marT="66675" marB="66675" anchor="ctr">
                    <a:lnR w="12383">
                      <a:solidFill>
                        <a:srgbClr val="FFFFFF"/>
                      </a:solidFill>
                    </a:lnR>
                    <a:lnB w="1238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Séparer les erreurs NLP des ">
            <a:extLst xmlns:a="http://schemas.openxmlformats.org/drawingml/2006/main">
              <a:ext uri="{FF2B5EF4-FFF2-40B4-BE49-F238E27FC236}">
                <a16:creationId xmlns:a16="http://schemas.microsoft.com/office/drawing/2014/main" id="{8D8839C7-1B79-42BB-A276-AC7431BC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00000"/>
                </a:solidFill>
                <a:latin typeface="Arial"/>
                <a:ea typeface="Arial"/>
                <a:cs typeface="Arial"/>
              </a:rPr>
              <a:t>Séparer les erreurs NLP des erreurs de localisation, costmap ou lifecycle Nav2.</a:t>
            </a:r>
          </a:p>
        </p:txBody>
      </p:sp>
    </p:spTree>
    <p:extLst>
      <p:ext uri="{BB962C8B-B14F-4D97-AF65-F5344CB8AC3E}">
        <p14:creationId xmlns:p14="http://schemas.microsoft.com/office/powerpoint/2010/main" val="3662396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51F956-DDBB-436C-8A2C-3C0BC3302E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390789a6845f2"/>
          <a:stretch xmlns:a="http://schemas.openxmlformats.org/drawingml/2006/main"/>
        </p:blipFill>
        <p:spPr>
          <a:xfrm xmlns:a="http://schemas.openxmlformats.org/drawingml/2006/main">
            <a:off x="0" y="343"/>
            <a:ext cx="12192000" cy="1370915"/>
          </a:xfrm>
          <a:prstGeom xmlns:a="http://schemas.openxmlformats.org/drawingml/2006/main" prst="rect">
            <a:avLst/>
          </a:prstGeom>
        </p:spPr>
      </p:pic>
      <p:sp>
        <p:nvSpPr>
          <p:cNvPr id="2" name="text-Démonstration : six preuves ">
            <a:extLst xmlns:a="http://schemas.openxmlformats.org/drawingml/2006/main">
              <a:ext uri="{FF2B5EF4-FFF2-40B4-BE49-F238E27FC236}">
                <a16:creationId xmlns:a16="http://schemas.microsoft.com/office/drawing/2014/main" id="{C7673514-7BCD-41C2-8EFC-F8BFB306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34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Démonstration : six preuves simples</a:t>
            </a:r>
          </a:p>
        </p:txBody>
      </p:sp>
      <p:sp>
        <p:nvSpPr>
          <p:cNvPr id="3" name="text-11">
            <a:extLst xmlns:a="http://schemas.openxmlformats.org/drawingml/2006/main">
              <a:ext uri="{FF2B5EF4-FFF2-40B4-BE49-F238E27FC236}">
                <a16:creationId xmlns:a16="http://schemas.microsoft.com/office/drawing/2014/main" id="{6B1CC23F-D99D-4D11-B3EC-09218CA8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B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text-1">
            <a:extLst xmlns:a="http://schemas.openxmlformats.org/drawingml/2006/main">
              <a:ext uri="{FF2B5EF4-FFF2-40B4-BE49-F238E27FC236}">
                <a16:creationId xmlns:a16="http://schemas.microsoft.com/office/drawing/2014/main" id="{D50C1B5D-CFCC-49FD-A9C2-4085B4B7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text-But vers la cuisine">
            <a:extLst xmlns:a="http://schemas.openxmlformats.org/drawingml/2006/main">
              <a:ext uri="{FF2B5EF4-FFF2-40B4-BE49-F238E27FC236}">
                <a16:creationId xmlns:a16="http://schemas.microsoft.com/office/drawing/2014/main" id="{3C46CE61-0A99-4D6E-B393-B498E4D2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6700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32E"/>
                </a:solidFill>
                <a:latin typeface="Arial"/>
                <a:ea typeface="Arial"/>
                <a:cs typeface="Arial"/>
              </a:rPr>
              <a:t>But vers la cuisine</a:t>
            </a:r>
          </a:p>
        </p:txBody>
      </p:sp>
      <p:sp>
        <p:nvSpPr>
          <p:cNvPr id="6" name="text-2">
            <a:extLst xmlns:a="http://schemas.openxmlformats.org/drawingml/2006/main">
              <a:ext uri="{FF2B5EF4-FFF2-40B4-BE49-F238E27FC236}">
                <a16:creationId xmlns:a16="http://schemas.microsoft.com/office/drawing/2014/main" id="{D75391A8-1174-436E-A56D-F7F4EC9A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09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text-Résultat de navigation">
            <a:extLst xmlns:a="http://schemas.openxmlformats.org/drawingml/2006/main">
              <a:ext uri="{FF2B5EF4-FFF2-40B4-BE49-F238E27FC236}">
                <a16:creationId xmlns:a16="http://schemas.microsoft.com/office/drawing/2014/main" id="{465A79D7-9CC5-4F69-B1D1-6A7008D3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6700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32E"/>
                </a:solidFill>
                <a:latin typeface="Arial"/>
                <a:ea typeface="Arial"/>
                <a:cs typeface="Arial"/>
              </a:rPr>
              <a:t>Résultat de navigation</a:t>
            </a:r>
          </a:p>
        </p:txBody>
      </p:sp>
      <p:sp>
        <p:nvSpPr>
          <p:cNvPr id="8" name="text-3">
            <a:extLst xmlns:a="http://schemas.openxmlformats.org/drawingml/2006/main">
              <a:ext uri="{FF2B5EF4-FFF2-40B4-BE49-F238E27FC236}">
                <a16:creationId xmlns:a16="http://schemas.microsoft.com/office/drawing/2014/main" id="{9DDD9ADD-DB92-4B62-B6E0-0BFED435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09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text-Arrêt réellement confirmé">
            <a:extLst xmlns:a="http://schemas.openxmlformats.org/drawingml/2006/main">
              <a:ext uri="{FF2B5EF4-FFF2-40B4-BE49-F238E27FC236}">
                <a16:creationId xmlns:a16="http://schemas.microsoft.com/office/drawing/2014/main" id="{CB5F0100-7CA9-4847-B3D2-5FF04D6E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6700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32E"/>
                </a:solidFill>
                <a:latin typeface="Arial"/>
                <a:ea typeface="Arial"/>
                <a:cs typeface="Arial"/>
              </a:rPr>
              <a:t>Arrêt réellement confirmé</a:t>
            </a:r>
          </a:p>
        </p:txBody>
      </p:sp>
      <p:sp>
        <p:nvSpPr>
          <p:cNvPr id="10" name="text-4">
            <a:extLst xmlns:a="http://schemas.openxmlformats.org/drawingml/2006/main">
              <a:ext uri="{FF2B5EF4-FFF2-40B4-BE49-F238E27FC236}">
                <a16:creationId xmlns:a16="http://schemas.microsoft.com/office/drawing/2014/main" id="{F7C76300-267D-4C6C-BF6E-281572E0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text-Rapport comparé à RViz2">
            <a:extLst xmlns:a="http://schemas.openxmlformats.org/drawingml/2006/main">
              <a:ext uri="{FF2B5EF4-FFF2-40B4-BE49-F238E27FC236}">
                <a16:creationId xmlns:a16="http://schemas.microsoft.com/office/drawing/2014/main" id="{8293B9B3-3CC6-47C5-B366-D80F787E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48125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32E"/>
                </a:solidFill>
                <a:latin typeface="Arial"/>
                <a:ea typeface="Arial"/>
                <a:cs typeface="Arial"/>
              </a:rPr>
              <a:t>Rapport comparé à RViz2</a:t>
            </a:r>
          </a:p>
        </p:txBody>
      </p:sp>
      <p:sp>
        <p:nvSpPr>
          <p:cNvPr id="12" name="text-5">
            <a:extLst xmlns:a="http://schemas.openxmlformats.org/drawingml/2006/main">
              <a:ext uri="{FF2B5EF4-FFF2-40B4-BE49-F238E27FC236}">
                <a16:creationId xmlns:a16="http://schemas.microsoft.com/office/drawing/2014/main" id="{A5100EB3-FD69-4C88-82C6-C4F19178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909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8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defPPr>
            <a:lvl1pPr algn="ctr">
              <a:defRPr sz="28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1pPr>
            <a:lvl2pPr algn="ctr">
              <a:defRPr sz="28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2pPr>
            <a:lvl3pPr algn="ctr">
              <a:defRPr sz="28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3pPr>
            <a:lvl4pPr algn="ctr">
              <a:defRPr sz="28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4pPr>
            <a:lvl5pPr algn="ctr">
              <a:defRPr sz="28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5pPr>
            <a:lvl6pPr algn="ctr">
              <a:defRPr sz="28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6pPr>
            <a:lvl7pPr algn="ctr">
              <a:defRPr sz="28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7pPr>
            <a:lvl8pPr algn="ctr">
              <a:defRPr sz="28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8pPr>
            <a:lvl9pPr algn="ctr">
              <a:defRPr sz="28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" name="text-Négation refusée">
            <a:extLst xmlns:a="http://schemas.openxmlformats.org/drawingml/2006/main">
              <a:ext uri="{FF2B5EF4-FFF2-40B4-BE49-F238E27FC236}">
                <a16:creationId xmlns:a16="http://schemas.microsoft.com/office/drawing/2014/main" id="{CBF533EC-DDF6-425F-9D93-A71215F4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48125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32E"/>
                </a:solidFill>
                <a:latin typeface="Arial"/>
                <a:ea typeface="Arial"/>
                <a:cs typeface="Arial"/>
              </a:rPr>
              <a:t>Négation refusée</a:t>
            </a:r>
          </a:p>
        </p:txBody>
      </p:sp>
      <p:sp>
        <p:nvSpPr>
          <p:cNvPr id="14" name="text-6">
            <a:extLst xmlns:a="http://schemas.openxmlformats.org/drawingml/2006/main">
              <a:ext uri="{FF2B5EF4-FFF2-40B4-BE49-F238E27FC236}">
                <a16:creationId xmlns:a16="http://schemas.microsoft.com/office/drawing/2014/main" id="{465622A3-6CA3-4B96-A4ED-F3BD3CFA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909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8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defPPr>
            <a:lvl1pPr algn="ctr">
              <a:defRPr sz="28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1pPr>
            <a:lvl2pPr algn="ctr">
              <a:defRPr sz="28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2pPr>
            <a:lvl3pPr algn="ctr">
              <a:defRPr sz="28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3pPr>
            <a:lvl4pPr algn="ctr">
              <a:defRPr sz="28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4pPr>
            <a:lvl5pPr algn="ctr">
              <a:defRPr sz="28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5pPr>
            <a:lvl6pPr algn="ctr">
              <a:defRPr sz="28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6pPr>
            <a:lvl7pPr algn="ctr">
              <a:defRPr sz="28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7pPr>
            <a:lvl8pPr algn="ctr">
              <a:defRPr sz="28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8pPr>
            <a:lvl9pPr algn="ctr">
              <a:defRPr sz="28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text-Séquence refusée">
            <a:extLst xmlns:a="http://schemas.openxmlformats.org/drawingml/2006/main">
              <a:ext uri="{FF2B5EF4-FFF2-40B4-BE49-F238E27FC236}">
                <a16:creationId xmlns:a16="http://schemas.microsoft.com/office/drawing/2014/main" id="{7ED284D2-3575-4CF2-9D2B-738B17D0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48125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923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32E"/>
                </a:solidFill>
                <a:latin typeface="Arial"/>
                <a:ea typeface="Arial"/>
                <a:cs typeface="Arial"/>
              </a:rPr>
              <a:t>Séquence refusée</a:t>
            </a:r>
          </a:p>
        </p:txBody>
      </p:sp>
      <p:sp>
        <p:nvSpPr>
          <p:cNvPr id="16" name="text-Conserver vidéo, journaux JS">
            <a:extLst xmlns:a="http://schemas.openxmlformats.org/drawingml/2006/main">
              <a:ext uri="{FF2B5EF4-FFF2-40B4-BE49-F238E27FC236}">
                <a16:creationId xmlns:a16="http://schemas.microsoft.com/office/drawing/2014/main" id="{CF7B9ED6-D6F1-4E4C-BFFA-6C355E4B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2060"/>
                </a:solidFill>
                <a:latin typeface="Arial"/>
                <a:ea typeface="Arial"/>
                <a:cs typeface="Arial"/>
              </a:rPr>
              <a:t>Conserver vidéo, journaux JSON, captures RViz2 et commit Git.</a:t>
            </a:r>
          </a:p>
        </p:txBody>
      </p:sp>
    </p:spTree>
    <p:extLst>
      <p:ext uri="{BB962C8B-B14F-4D97-AF65-F5344CB8AC3E}">
        <p14:creationId xmlns:p14="http://schemas.microsoft.com/office/powerpoint/2010/main" val="9430185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C1069E-6FFB-4857-B652-5561A3C42D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f5db66f6346cc"/>
          <a:stretch xmlns:a="http://schemas.openxmlformats.org/drawingml/2006/main"/>
        </p:blipFill>
        <p:spPr>
          <a:xfrm xmlns:a="http://schemas.openxmlformats.org/drawingml/2006/main">
            <a:off x="0" y="343"/>
            <a:ext cx="12192000" cy="1370915"/>
          </a:xfrm>
          <a:prstGeom xmlns:a="http://schemas.openxmlformats.org/drawingml/2006/main" prst="rect">
            <a:avLst/>
          </a:prstGeom>
        </p:spPr>
      </p:pic>
      <p:sp>
        <p:nvSpPr>
          <p:cNvPr id="2" name="text-Bilan">
            <a:extLst xmlns:a="http://schemas.openxmlformats.org/drawingml/2006/main">
              <a:ext uri="{FF2B5EF4-FFF2-40B4-BE49-F238E27FC236}">
                <a16:creationId xmlns:a16="http://schemas.microsoft.com/office/drawing/2014/main" id="{DC27F9EC-4F3B-408F-B3EC-FED31384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34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Bilan</a:t>
            </a:r>
          </a:p>
        </p:txBody>
      </p:sp>
      <p:sp>
        <p:nvSpPr>
          <p:cNvPr id="3" name="text-12">
            <a:extLst xmlns:a="http://schemas.openxmlformats.org/drawingml/2006/main">
              <a:ext uri="{FF2B5EF4-FFF2-40B4-BE49-F238E27FC236}">
                <a16:creationId xmlns:a16="http://schemas.microsoft.com/office/drawing/2014/main" id="{512C4CE6-6F5C-4DF3-A96D-23B5D11E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06B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B7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E74EDB0-2E76-4A73-AFE3-7217D225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text-intentions autorisées">
            <a:extLst xmlns:a="http://schemas.openxmlformats.org/drawingml/2006/main">
              <a:ext uri="{FF2B5EF4-FFF2-40B4-BE49-F238E27FC236}">
                <a16:creationId xmlns:a16="http://schemas.microsoft.com/office/drawing/2014/main" id="{B88A429C-2EA4-4762-A451-72A29D0D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232E"/>
                </a:solidFill>
                <a:latin typeface="Arial"/>
                <a:ea typeface="Arial"/>
                <a:cs typeface="Arial"/>
              </a:rPr>
              <a:t>intentions autorisées</a:t>
            </a:r>
          </a:p>
        </p:txBody>
      </p:sp>
      <p:sp>
        <p:nvSpPr>
          <p:cNvPr id="6" name="text-100 %">
            <a:extLst xmlns:a="http://schemas.openxmlformats.org/drawingml/2006/main">
              <a:ext uri="{FF2B5EF4-FFF2-40B4-BE49-F238E27FC236}">
                <a16:creationId xmlns:a16="http://schemas.microsoft.com/office/drawing/2014/main" id="{82150CA1-D357-4854-B0D2-651C1DB6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5270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defPPr>
            <a:lvl1pPr algn="l">
              <a:defRPr sz="510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1pPr>
            <a:lvl2pPr algn="l">
              <a:defRPr sz="510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2pPr>
            <a:lvl3pPr algn="l">
              <a:defRPr sz="510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3pPr>
            <a:lvl4pPr algn="l">
              <a:defRPr sz="510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4pPr>
            <a:lvl5pPr algn="l">
              <a:defRPr sz="510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5pPr>
            <a:lvl6pPr algn="l">
              <a:defRPr sz="510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6pPr>
            <a:lvl7pPr algn="l">
              <a:defRPr sz="510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7pPr>
            <a:lvl8pPr algn="l">
              <a:defRPr sz="510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8pPr>
            <a:lvl9pPr algn="l">
              <a:defRPr sz="510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385723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385723"/>
                </a:solidFill>
                <a:latin typeface="Arial"/>
                <a:ea typeface="Arial"/>
                <a:cs typeface="Arial"/>
              </a:rPr>
              <a:t>100 %</a:t>
            </a:r>
          </a:p>
        </p:txBody>
      </p:sp>
      <p:sp>
        <p:nvSpPr>
          <p:cNvPr id="7" name="text-sur 45 tests indépendants">
            <a:extLst xmlns:a="http://schemas.openxmlformats.org/drawingml/2006/main">
              <a:ext uri="{FF2B5EF4-FFF2-40B4-BE49-F238E27FC236}">
                <a16:creationId xmlns:a16="http://schemas.microsoft.com/office/drawing/2014/main" id="{AE027A76-9BBC-44F5-BE11-EB0474CF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766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232E"/>
                </a:solidFill>
                <a:latin typeface="Arial"/>
                <a:ea typeface="Arial"/>
                <a:cs typeface="Arial"/>
              </a:rPr>
              <a:t>sur 45 tests indépendants</a:t>
            </a:r>
          </a:p>
        </p:txBody>
      </p:sp>
      <p:sp>
        <p:nvSpPr>
          <p:cNvPr id="8" name="text-15/15">
            <a:extLst xmlns:a="http://schemas.openxmlformats.org/drawingml/2006/main">
              <a:ext uri="{FF2B5EF4-FFF2-40B4-BE49-F238E27FC236}">
                <a16:creationId xmlns:a16="http://schemas.microsoft.com/office/drawing/2014/main" id="{D98A8C70-DF7B-424B-954A-9B18F4E9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5270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defPPr>
            <a:lvl1pPr algn="l">
              <a:defRPr sz="51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1pPr>
            <a:lvl2pPr algn="l">
              <a:defRPr sz="51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2pPr>
            <a:lvl3pPr algn="l">
              <a:defRPr sz="51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3pPr>
            <a:lvl4pPr algn="l">
              <a:defRPr sz="51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4pPr>
            <a:lvl5pPr algn="l">
              <a:defRPr sz="51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5pPr>
            <a:lvl6pPr algn="l">
              <a:defRPr sz="51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6pPr>
            <a:lvl7pPr algn="l">
              <a:defRPr sz="51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7pPr>
            <a:lvl8pPr algn="l">
              <a:defRPr sz="51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8pPr>
            <a:lvl9pPr algn="l">
              <a:defRPr sz="51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ED7D31"/>
                </a:solidFill>
                <a:latin typeface="Arial"/>
                <a:ea typeface="Arial"/>
                <a:cs typeface="Arial"/>
              </a:rPr>
              <a:t>15/15</a:t>
            </a:r>
          </a:p>
        </p:txBody>
      </p:sp>
      <p:sp>
        <p:nvSpPr>
          <p:cNvPr id="9" name="text-cas de sûreté conformes">
            <a:extLst xmlns:a="http://schemas.openxmlformats.org/drawingml/2006/main">
              <a:ext uri="{FF2B5EF4-FFF2-40B4-BE49-F238E27FC236}">
                <a16:creationId xmlns:a16="http://schemas.microsoft.com/office/drawing/2014/main" id="{29FE8DA5-22A8-48CF-88C8-CCE9EFE9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9232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232E"/>
                </a:solidFill>
                <a:latin typeface="Arial"/>
                <a:ea typeface="Arial"/>
                <a:cs typeface="Arial"/>
              </a:rPr>
              <a:t>cas de sûreté conformes</a:t>
            </a:r>
          </a:p>
        </p:txBody>
      </p:sp>
      <p:sp>
        <p:nvSpPr>
          <p:cNvPr id="10" name="text-Prochaine étape : recalibrer">
            <a:extLst xmlns:a="http://schemas.openxmlformats.org/drawingml/2006/main">
              <a:ext uri="{FF2B5EF4-FFF2-40B4-BE49-F238E27FC236}">
                <a16:creationId xmlns:a16="http://schemas.microsoft.com/office/drawing/2014/main" id="{662F8928-4CC5-4AFA-81EB-6152AAF8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2060"/>
                </a:solidFill>
                <a:latin typeface="Arial"/>
                <a:ea typeface="Arial"/>
                <a:cs typeface="Arial"/>
              </a:rPr>
              <a:t>Prochaine étape : recalibrer les waypoints et exécuter la checklist sous Ubuntu 22.04.</a:t>
            </a:r>
          </a:p>
        </p:txBody>
      </p:sp>
    </p:spTree>
    <p:extLst>
      <p:ext uri="{BB962C8B-B14F-4D97-AF65-F5344CB8AC3E}">
        <p14:creationId xmlns:p14="http://schemas.microsoft.com/office/powerpoint/2010/main" val="2064532652"/>
      </p:ext>
    </p:extLst>
  </p:cSld>
</p:sld>
</file>

<file path=ppt/theme/theme1.xml><?xml version="1.0" encoding="utf-8"?>
<a:theme xmlns:a="http://schemas.openxmlformats.org/drawingml/2006/main" name="ChatGPT">
  <a:themeElements>
    <a:clrScheme name="HESTIM">
      <a:dk1>
        <a:srgbClr val="000000"/>
      </a:dk1>
      <a:lt1>
        <a:srgbClr val="FFFFFF"/>
      </a:lt1>
      <a:dk2>
        <a:srgbClr val="002060"/>
      </a:dk2>
      <a:lt2>
        <a:srgbClr val="F0F3F8"/>
      </a:lt2>
      <a:accent1>
        <a:srgbClr val="002060"/>
      </a:accent1>
      <a:accent2>
        <a:srgbClr val="ED7D31"/>
      </a:accent2>
      <a:accent3>
        <a:srgbClr val="385723"/>
      </a:accent3>
      <a:accent4>
        <a:srgbClr val="C00000"/>
      </a:accent4>
      <a:accent5>
        <a:srgbClr val="5579A9"/>
      </a:accent5>
      <a:accent6>
        <a:srgbClr val="8996AA"/>
      </a:accent6>
      <a:hlink>
        <a:srgbClr val="002060"/>
      </a:hlink>
      <a:folHlink>
        <a:srgbClr val="ED7D31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HESTI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2026-10-22T15:03:12.7700000Z</dcterms:created>
  <dcterms:modified xsi:type="dcterms:W3CDTF">2026-10-22T15:03:12.7700000Z</dcterms:modified>
</coreProperties>
</file>