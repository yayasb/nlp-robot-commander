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abb27739f345f4" /><Relationship Type="http://schemas.openxmlformats.org/officeDocument/2006/relationships/extended-properties" Target="/docProps/app.xml" Id="R57a60729a18641fe" /><Relationship Type="http://schemas.openxmlformats.org/officeDocument/2006/relationships/officeDocument" Target="/ppt/presentation.xml" Id="R19c1d6dfd007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f6cbf913004251"/>
  </p:sldMasterIdLst>
  <p:notesMasterIdLst>
    <p:notesMasterId xmlns:r="http://schemas.openxmlformats.org/officeDocument/2006/relationships" r:id="R0d9c9d6a4339491b"/>
  </p:notesMasterIdLst>
  <p:sldIdLst>
    <p:sldId xmlns:r="http://schemas.openxmlformats.org/officeDocument/2006/relationships" id="256" r:id="Rd908dbd28fde46ca"/>
    <p:sldId xmlns:r="http://schemas.openxmlformats.org/officeDocument/2006/relationships" id="257" r:id="R841f35f55f1b4f0d"/>
    <p:sldId xmlns:r="http://schemas.openxmlformats.org/officeDocument/2006/relationships" id="258" r:id="Rc0a464f4eceb471f"/>
    <p:sldId xmlns:r="http://schemas.openxmlformats.org/officeDocument/2006/relationships" id="259" r:id="R7a4cadcc3600459e"/>
    <p:sldId xmlns:r="http://schemas.openxmlformats.org/officeDocument/2006/relationships" id="260" r:id="R2ec1f5e2ba534c8c"/>
    <p:sldId xmlns:r="http://schemas.openxmlformats.org/officeDocument/2006/relationships" id="261" r:id="R6d2c50bc7d3d402e"/>
    <p:sldId xmlns:r="http://schemas.openxmlformats.org/officeDocument/2006/relationships" id="262" r:id="R4ba3b2d8130341e3"/>
    <p:sldId xmlns:r="http://schemas.openxmlformats.org/officeDocument/2006/relationships" id="263" r:id="R22a8af0804a548cf"/>
    <p:sldId xmlns:r="http://schemas.openxmlformats.org/officeDocument/2006/relationships" id="264" r:id="R441293dbd6a643db"/>
    <p:sldId xmlns:r="http://schemas.openxmlformats.org/officeDocument/2006/relationships" id="265" r:id="R631b759a4ad34229"/>
    <p:sldId xmlns:r="http://schemas.openxmlformats.org/officeDocument/2006/relationships" id="266" r:id="R888e2931366f46b8"/>
    <p:sldId xmlns:r="http://schemas.openxmlformats.org/officeDocument/2006/relationships" id="267" r:id="Rdf93e7239fcd451b"/>
    <p:sldId xmlns:r="http://schemas.openxmlformats.org/officeDocument/2006/relationships" id="268" r:id="R938c9c8be54f4069"/>
    <p:sldId xmlns:r="http://schemas.openxmlformats.org/officeDocument/2006/relationships" id="269" r:id="R9a57ab4be6a745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52621ebbb4016" /><Relationship Type="http://schemas.openxmlformats.org/officeDocument/2006/relationships/slideMaster" Target="/ppt/slideMasters/slideMaster1.xml" Id="Rf9f6cbf913004251" /><Relationship Type="http://schemas.openxmlformats.org/officeDocument/2006/relationships/notesMaster" Target="/ppt/notesMasters/notesMaster1.xml" Id="R0d9c9d6a4339491b" /><Relationship Type="http://schemas.openxmlformats.org/officeDocument/2006/relationships/presProps" Target="/ppt/presProps.xml" Id="Rc9cb265811c04548" /><Relationship Type="http://schemas.openxmlformats.org/officeDocument/2006/relationships/tableStyles" Target="/ppt/tableStyles.xml" Id="R075cbdb0a7d64e82" /><Relationship Type="http://schemas.openxmlformats.org/officeDocument/2006/relationships/slide" Target="/ppt/slides/slide1.xml" Id="Rd908dbd28fde46ca" /><Relationship Type="http://schemas.openxmlformats.org/officeDocument/2006/relationships/slide" Target="/ppt/slides/slide2.xml" Id="R841f35f55f1b4f0d" /><Relationship Type="http://schemas.openxmlformats.org/officeDocument/2006/relationships/slide" Target="/ppt/slides/slide3.xml" Id="Rc0a464f4eceb471f" /><Relationship Type="http://schemas.openxmlformats.org/officeDocument/2006/relationships/slide" Target="/ppt/slides/slide4.xml" Id="R7a4cadcc3600459e" /><Relationship Type="http://schemas.openxmlformats.org/officeDocument/2006/relationships/slide" Target="/ppt/slides/slide5.xml" Id="R2ec1f5e2ba534c8c" /><Relationship Type="http://schemas.openxmlformats.org/officeDocument/2006/relationships/slide" Target="/ppt/slides/slide6.xml" Id="R6d2c50bc7d3d402e" /><Relationship Type="http://schemas.openxmlformats.org/officeDocument/2006/relationships/slide" Target="/ppt/slides/slide7.xml" Id="R4ba3b2d8130341e3" /><Relationship Type="http://schemas.openxmlformats.org/officeDocument/2006/relationships/slide" Target="/ppt/slides/slide8.xml" Id="R22a8af0804a548cf" /><Relationship Type="http://schemas.openxmlformats.org/officeDocument/2006/relationships/slide" Target="/ppt/slides/slide9.xml" Id="R441293dbd6a643db" /><Relationship Type="http://schemas.openxmlformats.org/officeDocument/2006/relationships/slide" Target="/ppt/slides/slide10.xml" Id="R631b759a4ad34229" /><Relationship Type="http://schemas.openxmlformats.org/officeDocument/2006/relationships/slide" Target="/ppt/slides/slide11.xml" Id="R888e2931366f46b8" /><Relationship Type="http://schemas.openxmlformats.org/officeDocument/2006/relationships/slide" Target="/ppt/slides/slide12.xml" Id="Rdf93e7239fcd451b" /><Relationship Type="http://schemas.openxmlformats.org/officeDocument/2006/relationships/slide" Target="/ppt/slides/slide13.xml" Id="R938c9c8be54f4069" /><Relationship Type="http://schemas.openxmlformats.org/officeDocument/2006/relationships/slide" Target="/ppt/slides/slide14.xml" Id="R9a57ab4be6a7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490ad8f87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5d4ef7f39473a" /><Relationship Type="http://schemas.openxmlformats.org/officeDocument/2006/relationships/notesMaster" Target="/ppt/notesMasters/notesMaster1.xml" Id="R0a6705a6c1cb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d871fec7b1442b" /><Relationship Type="http://schemas.openxmlformats.org/officeDocument/2006/relationships/notesMaster" Target="/ppt/notesMasters/notesMaster1.xml" Id="R84842c211f284e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715911c97496b" /><Relationship Type="http://schemas.openxmlformats.org/officeDocument/2006/relationships/notesMaster" Target="/ppt/notesMasters/notesMaster1.xml" Id="R86a29c8c8aee4b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99381c81e94314" /><Relationship Type="http://schemas.openxmlformats.org/officeDocument/2006/relationships/notesMaster" Target="/ppt/notesMasters/notesMaster1.xml" Id="R14f0b57a287d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267a9bbacf4cc4" /><Relationship Type="http://schemas.openxmlformats.org/officeDocument/2006/relationships/notesMaster" Target="/ppt/notesMasters/notesMaster1.xml" Id="R8aa3709559e1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23c71a39454c99" /><Relationship Type="http://schemas.openxmlformats.org/officeDocument/2006/relationships/notesMaster" Target="/ppt/notesMasters/notesMaster1.xml" Id="Rc002074de54840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d5d784515d43bf" /><Relationship Type="http://schemas.openxmlformats.org/officeDocument/2006/relationships/notesMaster" Target="/ppt/notesMasters/notesMaster1.xml" Id="R2e0a7dc3066248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76367bd3b4d0f" /><Relationship Type="http://schemas.openxmlformats.org/officeDocument/2006/relationships/notesMaster" Target="/ppt/notesMasters/notesMaster1.xml" Id="Ra59e481a49ef4e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bb852d724457c" /><Relationship Type="http://schemas.openxmlformats.org/officeDocument/2006/relationships/notesMaster" Target="/ppt/notesMasters/notesMaster1.xml" Id="R310d303aed5e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cbe0800fcc4bdd" /><Relationship Type="http://schemas.openxmlformats.org/officeDocument/2006/relationships/notesMaster" Target="/ppt/notesMasters/notesMaster1.xml" Id="Rd1a64b94fe4840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c538bc3415421b" /><Relationship Type="http://schemas.openxmlformats.org/officeDocument/2006/relationships/notesMaster" Target="/ppt/notesMasters/notesMaster1.xml" Id="Ra3fb18e034ff4b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03e610e51449f3" /><Relationship Type="http://schemas.openxmlformats.org/officeDocument/2006/relationships/notesMaster" Target="/ppt/notesMasters/notesMaster1.xml" Id="Rdb619afbf2a845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3ec617aa034244" /><Relationship Type="http://schemas.openxmlformats.org/officeDocument/2006/relationships/notesMaster" Target="/ppt/notesMasters/notesMaster1.xml" Id="Rbdedc7f3811e45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2fc3e6fb884966" /><Relationship Type="http://schemas.openxmlformats.org/officeDocument/2006/relationships/notesMaster" Target="/ppt/notesMasters/notesMaster1.xml" Id="R599d19b8f323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projet en une phrase : une interface NLP transforme des commandes françaises en actions sûres pour un robot mobile. Annoncer que la démonstration couvre le traitement du langage, ROS 2 et la navigation dans Gazebo.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src/nlp_robot_commander/maps/apartment_map.png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différence entre une simple classification et une commande robotique. Une bonne prédiction reste inutilisable si la destination manque ou si Nav2 ne peut pas exécuter le but.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docs/rapport_final.md, sections 1 et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le périmètre a été ajusté au matériel simulé. Cette décision améliore la cohérence du projet : chaque intention acceptée possède une implémentation vérifiable.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tableau des intentions</a:t>
            </a:r>
          </a:p>
          <a:p xmlns:a="http://schemas.openxmlformats.org/drawingml/2006/main">
            <a:r>
              <a:t>src/nlp_robot_commander/package.xml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les outils par rôle. WSL2 permet d’utiliser ROS 2 Humble dans Ubuntu tout en développant depuis Windows et VS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installation WSL2</a:t>
            </a:r>
          </a:p>
          <a:p xmlns:a="http://schemas.openxmlformats.org/drawingml/2006/main">
            <a:r>
              <a:t>requirements.txt</a:t>
            </a:r>
          </a:p>
          <a:p xmlns:a="http://schemas.openxmlformats.org/drawingml/2006/main">
            <a:r>
              <a:t>src/nlp_robot_commander/package.xml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Suivre le schéma de gauche à droite. Le LLM ne commande jamais ROS 2 directement. Le routeur reçoit uniquement une décision déjà validée.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diagramme d’architecture</a:t>
            </a:r>
          </a:p>
          <a:p xmlns:a="http://schemas.openxmlformats.org/drawingml/2006/main">
            <a:r>
              <a:t>src/nlp_robot_commander/nlp_robot_commander/command_processor.py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calendrier comme une boucle d’intégration. L’évaluation n’attend pas la dernière semaine : elle commence dès que le modèle et Nav2 peuvent communiquer.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Plan de travail HESTIM fourni pour le projet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Préciser que le test indépendant ne sert ni à l’entraînement ni à la sélection du checkpoint. L’audit cherche aussi les fuites proches, pas seulement les doublons identiques.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artifacts/dataset_audit.json</a:t>
            </a:r>
          </a:p>
          <a:p xmlns:a="http://schemas.openxmlformats.org/drawingml/2006/main">
            <a:r>
              <a:t>dataset/dataset.csv</a:t>
            </a:r>
          </a:p>
          <a:p xmlns:a="http://schemas.openxmlformats.org/drawingml/2006/main">
            <a:r>
              <a:t>dataset/test_commands.csv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le fine-tuning supervisé. La seule erreur de validation confond une phrase navigate avec stop. Les autres classes obtiennent 12 bonnes prédictions sur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artifacts/training_3intents/validation_metrics.json</a:t>
            </a:r>
          </a:p>
          <a:p xmlns:a="http://schemas.openxmlformats.org/drawingml/2006/main">
            <a:r>
              <a:t>artifacts/training_3intents/confusion_matrix.png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Clarifier le mot apprentissage : la mémoire réutilise des commandes anciennes, mais elle ne réentraîne pas llama3.2 ni DistilBERT. Les règles déterministes gardent la priorité.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section LLM local avec mémoire</a:t>
            </a:r>
          </a:p>
          <a:p xmlns:a="http://schemas.openxmlformats.org/drawingml/2006/main">
            <a:r>
              <a:t>src/nlp_robot_commander/nlp_robot_commander/command_memory.py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que le monde Gazebo et la carte Nav2 proviennent de la même définition. Les waypoints ont été déplacés au centre des zones libres après les essais réels.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docs/apartment_layout.svg</a:t>
            </a:r>
          </a:p>
          <a:p xmlns:a="http://schemas.openxmlformats.org/drawingml/2006/main">
            <a:r>
              <a:t>src/nlp_robot_commander/config/waypoints.yaml</a:t>
            </a:r>
          </a:p>
          <a:p xmlns:a="http://schemas.openxmlformats.org/drawingml/2006/main">
            <a:r>
              <a:t>launch/simulation.launch.py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Pendant la soutenance, garder le terminal client visible à côté de Gazebo. Lire un statut JSON seulement pour montrer la traçabilité, puis recentrer l’attention sur le déplacement du robot.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docs/HOW_TO_FIRST_RUN_ON_VSCODE.md</a:t>
            </a:r>
          </a:p>
          <a:p xmlns:a="http://schemas.openxmlformats.org/drawingml/2006/main">
            <a:r>
              <a:t>README.md, simulation ROS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Bien distinguer les trois mesures. La validation sert à choisir le modèle, le test indépendant mesure la généralisation sur 45 phrases et la campagne de sûreté vérifie les refus attendus. La réussite Nav2 reste une preuve séparée.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résultats mesurés</a:t>
            </a:r>
          </a:p>
          <a:p xmlns:a="http://schemas.openxmlformats.org/drawingml/2006/main">
            <a:r>
              <a:t>artifacts/training_3intents/validation_metrics.json</a:t>
            </a:r>
          </a:p>
          <a:p xmlns:a="http://schemas.openxmlformats.org/drawingml/2006/main">
            <a:r>
              <a:t>artifacts/test_campaign_3intents/metrics.json</a:t>
            </a:r>
          </a:p>
          <a:p xmlns:a="http://schemas.openxmlformats.org/drawingml/2006/main">
            <a:r>
              <a:t>artifacts/safety_campaign_transformers/metrics.json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cette diapositive pour montrer la démarche d’ingénierie. Le robot bloqué a permis de mesurer sa pose, d’identifier le bord de porte et de tester un objectif centré qui a terminé avec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Capture de test Gazebo fournie dans la session</a:t>
            </a:r>
          </a:p>
          <a:p xmlns:a="http://schemas.openxmlformats.org/drawingml/2006/main">
            <a:r>
              <a:t>scripts/wsl_run_simulation.sh</a:t>
            </a:r>
          </a:p>
          <a:p xmlns:a="http://schemas.openxmlformats.org/drawingml/2006/main">
            <a:r>
              <a:t>src/nlp_robot_commander/config/waypoints.yaml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sur l’intégration complète plutôt que sur le score seul. Le principal résultat est un pipeline mesurable, sécurisé et démontrable. Ouvrir ensuite la discussion sur le robot réel et l’audio.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du projet :</a:t>
            </a:r>
          </a:p>
          <a:p xmlns:a="http://schemas.openxmlformats.org/drawingml/2006/main">
            <a:r>
              <a:t>README.md, limites</a:t>
            </a:r>
          </a:p>
          <a:p xmlns:a="http://schemas.openxmlformats.org/drawingml/2006/main">
            <a:r>
              <a:t>docs/rapport_final.md,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3afe923e646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85d11801e49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335bcb8144a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e0adffbb4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e6ace45c641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0b5248970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D62E48-8CAC-4FD0-84B0-284D86603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3E1525-ECD2-4F42-A095-0345E33272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902C28-02EC-43B6-ADB4-2F10B291B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78254-2015-4D6F-9B85-CBCE0DAB8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E6C4BD-7017-4A85-BA8B-E6C25DEB6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5508DF-3464-4EC8-B244-2C4B1D68E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703834-A153-4B7F-A12A-4BC012FED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E0A31F-2F00-4930-B801-E29ED5F55D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C905B-1E3C-464F-9F7B-99BC4D27B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E9EAD5-B665-49DE-B049-2D1380E389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eab1dfc1d4969" /><Relationship Type="http://schemas.openxmlformats.org/officeDocument/2006/relationships/slideLayout" Target="/ppt/slideLayouts/slideLayout1.xml" Id="Raa4ace685ba4488c" /><Relationship Type="http://schemas.openxmlformats.org/officeDocument/2006/relationships/slideLayout" Target="/ppt/slideLayouts/slideLayout2.xml" Id="R2590465c6e894888" /><Relationship Type="http://schemas.openxmlformats.org/officeDocument/2006/relationships/slideLayout" Target="/ppt/slideLayouts/slideLayout3.xml" Id="R6d084c671d7f45f9" /><Relationship Type="http://schemas.openxmlformats.org/officeDocument/2006/relationships/slideLayout" Target="/ppt/slideLayouts/slideLayout4.xml" Id="R61e2602e9f1042d5" /><Relationship Type="http://schemas.openxmlformats.org/officeDocument/2006/relationships/slideLayout" Target="/ppt/slideLayouts/slideLayout5.xml" Id="Ra16c3c13f82243a9" /><Relationship Type="http://schemas.openxmlformats.org/officeDocument/2006/relationships/slideLayout" Target="/ppt/slideLayouts/slideLayout6.xml" Id="R8b289b532a55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ace685ba4488c"/>
    <p:sldLayoutId xmlns:r="http://schemas.openxmlformats.org/officeDocument/2006/relationships" id="2147483650" r:id="R2590465c6e894888"/>
    <p:sldLayoutId xmlns:r="http://schemas.openxmlformats.org/officeDocument/2006/relationships" id="2147483651" r:id="R6d084c671d7f45f9"/>
    <p:sldLayoutId xmlns:r="http://schemas.openxmlformats.org/officeDocument/2006/relationships" id="2147483652" r:id="R61e2602e9f1042d5"/>
    <p:sldLayoutId xmlns:r="http://schemas.openxmlformats.org/officeDocument/2006/relationships" id="2147483653" r:id="Ra16c3c13f82243a9"/>
    <p:sldLayoutId xmlns:r="http://schemas.openxmlformats.org/officeDocument/2006/relationships" id="2147483654" r:id="R8b289b532a55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14acdfc6246dd" /><Relationship Type="http://schemas.openxmlformats.org/officeDocument/2006/relationships/image" Target="/ppt/media/image.png" Id="R8af328d438534ec2" /><Relationship Type="http://schemas.openxmlformats.org/officeDocument/2006/relationships/image" Target="/ppt/media/image2.png" Id="Rac42de921bd24fb8" /><Relationship Type="http://schemas.openxmlformats.org/officeDocument/2006/relationships/notesSlide" Target="/ppt/notesSlides/notesSlide1.xml" Id="R347568622dcb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70a96dc4048e9" /><Relationship Type="http://schemas.openxmlformats.org/officeDocument/2006/relationships/notesSlide" Target="/ppt/notesSlides/notesSlide2.xml" Id="R258a6162d374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c4323e429404b" /><Relationship Type="http://schemas.openxmlformats.org/officeDocument/2006/relationships/notesSlide" Target="/ppt/notesSlides/notesSlide3.xml" Id="Re45050a8a40d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505dc38594a11" /><Relationship Type="http://schemas.openxmlformats.org/officeDocument/2006/relationships/notesSlide" Target="/ppt/notesSlides/notesSlide4.xml" Id="Rc6a52342fff24b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eb21580a6419f" /><Relationship Type="http://schemas.openxmlformats.org/officeDocument/2006/relationships/notesSlide" Target="/ppt/notesSlides/notesSlide5.xml" Id="Rb755ee0c94c943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5141a51a941d1" /><Relationship Type="http://schemas.openxmlformats.org/officeDocument/2006/relationships/notesSlide" Target="/ppt/notesSlides/notesSlide6.xml" Id="Ra3dd72a9bd3342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98f0c112149da" /><Relationship Type="http://schemas.openxmlformats.org/officeDocument/2006/relationships/notesSlide" Target="/ppt/notesSlides/notesSlide7.xml" Id="R0e86479078564f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8ffafd6d340f8" /><Relationship Type="http://schemas.openxmlformats.org/officeDocument/2006/relationships/image" Target="/ppt/media/image3.png" Id="Rc881908d32cd4851" /><Relationship Type="http://schemas.openxmlformats.org/officeDocument/2006/relationships/notesSlide" Target="/ppt/notesSlides/notesSlide8.xml" Id="R16b1e085cd6248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14fe96d26431e" /><Relationship Type="http://schemas.openxmlformats.org/officeDocument/2006/relationships/notesSlide" Target="/ppt/notesSlides/notesSlide9.xml" Id="Rece045ecb78342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30773a6e74fdb" /><Relationship Type="http://schemas.openxmlformats.org/officeDocument/2006/relationships/image" Target="/ppt/media/image4.png" Id="R8ed8c103304048c6" /><Relationship Type="http://schemas.openxmlformats.org/officeDocument/2006/relationships/image" Target="/ppt/media/image.svg" Id="R1287848013a44737" /><Relationship Type="http://schemas.openxmlformats.org/officeDocument/2006/relationships/notesSlide" Target="/ppt/notesSlides/notesSlide10.xml" Id="R5b6bb11f8aef4a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a946ce78a48cd" /><Relationship Type="http://schemas.openxmlformats.org/officeDocument/2006/relationships/notesSlide" Target="/ppt/notesSlides/notesSlide11.xml" Id="Rb96095ea46cd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b9b94f71648b3" /><Relationship Type="http://schemas.openxmlformats.org/officeDocument/2006/relationships/chart" Target="/ppt/slides/charts/chart1.xml" Id="R51ea61ef59374003" /><Relationship Type="http://schemas.openxmlformats.org/officeDocument/2006/relationships/notesSlide" Target="/ppt/notesSlides/notesSlide12.xml" Id="Rc056f1c88d8e42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bb5827aba4ffc" /><Relationship Type="http://schemas.openxmlformats.org/officeDocument/2006/relationships/image" Target="/ppt/media/image5.png" Id="R764348642de74332" /><Relationship Type="http://schemas.openxmlformats.org/officeDocument/2006/relationships/notesSlide" Target="/ppt/notesSlides/notesSlide13.xml" Id="Rf1904c0c66af4d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0e7ec6b704ea5" /><Relationship Type="http://schemas.openxmlformats.org/officeDocument/2006/relationships/notesSlide" Target="/ppt/notesSlides/notesSlide14.xml" Id="R197514a5977b4bd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Taux mesuré</c:v>
          </c:tx>
          <c:spPr>
            <a:solidFill xmlns:a="http://schemas.openxmlformats.org/drawingml/2006/main">
              <a:srgbClr val="146C9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Validation</c:v>
                </c:pt>
                <c:pt idx="1">
                  <c:v>Test indépendant</c:v>
                </c:pt>
                <c:pt idx="2">
                  <c:v>Sûreté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97.22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.00&quot; 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A225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8"/>
              </a:solidFill>
              <a:prstDash val="solid"/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6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7DC1B-F1F3-4643-9982-9357B16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63C11-2A91-41FF-BDA4-3133EE248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28d438534ec2"/>
          <a:stretch xmlns:a="http://schemas.openxmlformats.org/drawingml/2006/main"/>
        </p:blipFill>
        <p:spPr>
          <a:xfrm xmlns:a="http://schemas.openxmlformats.org/drawingml/2006/main">
            <a:off x="739441" y="533400"/>
            <a:ext cx="2845468" cy="8191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92BEA-866C-4177-A534-24A3CDFD2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2de921bd24fb8"/>
          <a:stretch xmlns:a="http://schemas.openxmlformats.org/drawingml/2006/main"/>
        </p:blipFill>
        <p:spPr>
          <a:xfrm xmlns:a="http://schemas.openxmlformats.org/drawingml/2006/main">
            <a:off x="7924800" y="1771650"/>
            <a:ext cx="3143250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79C6F-2C33-403E-8D4F-3434AE30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NLP Robot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7532B-C363-45BB-A89F-741A656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C9D9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9D9EA"/>
                </a:solidFill>
                <a:latin typeface="Arial"/>
                <a:ea typeface="Arial"/>
                <a:cs typeface="Arial"/>
              </a:rPr>
              <a:t>Commande en français d’un TurtleBot3 dans un appartement simulé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0A3DE-0FC6-4EFC-BB18-2D300A76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B4D2"/>
                </a:solidFill>
                <a:latin typeface="Arial"/>
                <a:ea typeface="Arial"/>
                <a:cs typeface="Arial"/>
              </a:rPr>
              <a:t>Projet académique HESTIM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91B4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1B4D2"/>
                </a:solidFill>
                <a:latin typeface="Arial"/>
                <a:ea typeface="Arial"/>
                <a:cs typeface="Arial"/>
              </a:rPr>
              <a:t>ROS 2 Humble, DistilBERT, Nav2 et Gazebo</a:t>
            </a:r>
          </a:p>
        </p:txBody>
      </p:sp>
    </p:spTree>
    <p:extLst>
      <p:ext uri="{BB962C8B-B14F-4D97-AF65-F5344CB8AC3E}">
        <p14:creationId xmlns:p14="http://schemas.microsoft.com/office/powerpoint/2010/main" val="1593577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CD786-E426-45C2-A8A3-DEE046A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Problème et objectif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3699F-48C9-43DA-AD0C-7193123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22A74-EDF4-4F00-9633-7C44FEFE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Une phrase naturelle doit devenir une action robotique sûre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E6F23-C29F-4091-9682-B59E57BB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65EDD-8A56-47B2-9920-783579F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Transformer une consigne française en décision exécutable, sans laisser une ambiguïté atteindre le robot.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70EC4-3CDC-4419-ABCB-0E454018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9748-20FF-4BAF-B47E-6C4A5CF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Comprendre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1E87F-FD93-485B-B483-C6D8A97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Identifier l’intention malgré les accents, la politesse ou une formulation familière.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2118E-53AD-457F-9501-A15849BA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27FA7-806F-41E5-B994-771DECBD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F1B7F-4F29-4D9C-BCF8-8045D2A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Extraire une destination autorisée et la convertir en coordonnées Nav2.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FCFD7-8684-494C-9FD2-9420454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4806F-C805-49E6-8FA3-8EBB84E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Sécuriser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02380-0DBD-4751-A2C5-EE7AF4E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576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Refuser les commandes ambiguës, niées, inconnues ou incomplètes.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626C6-AEE6-4023-B21C-569153DC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5C2C8-521D-422B-AA88-6F2E293C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Exécuter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6598F-2D10-45C5-8FB1-8374520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387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Envoyer une action ROS 2 puis publier un statut observable.</a:t>
            </a:r>
          </a:p>
        </p:txBody>
      </p:sp>
    </p:spTree>
    <p:extLst>
      <p:ext uri="{BB962C8B-B14F-4D97-AF65-F5344CB8AC3E}">
        <p14:creationId xmlns:p14="http://schemas.microsoft.com/office/powerpoint/2010/main" val="1441218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6878C-DCCF-4376-A94D-EC3D948C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Périmètre fonctionnel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F4EA4-59DD-4EC6-A82B-4B26C04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68687-9010-495A-BF1E-84DFC48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Trois intentions compatibles avec un TurtleBot3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D50F1-8E59-4184-A055-1CA91123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0A5B8-E66E-48F7-885B-92E66D9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navigate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9E45-11D8-4A0A-8F00-32C1EA9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Se déplacer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6008E-07A4-41EB-8591-B338B65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« Va dans la cuisine 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C3A36-3E4A-4EC1-AFAD-90F5637B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solidFill>
              <a:srgbClr val="146C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7BD10-DF36-46C3-9650-DC8DD43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Action NavigateToPose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1A4F4-3A5E-41DA-852C-6C826417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43D4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DF28C-4149-407E-8CBF-03E5DEA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Interrompre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CA98-335B-4F51-8277-971778F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« Arrête-toi 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6C2F2-B378-494C-BC4F-1D361F83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B"/>
          </a:solidFill>
          <a:ln xmlns:a="http://schemas.openxmlformats.org/drawingml/2006/main" w="0">
            <a:solidFill>
              <a:srgbClr val="C43D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3929F-9046-48F7-8174-90DDED90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Annulation du but Nav2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E4F82-1D93-464B-B194-C0F87D99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6F0BA-6863-4712-9C59-E4E0EB2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Se localiser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22DFE-2694-442E-9429-6889A52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« Où es-tu ? 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B653F-09A7-4278-B6CE-00B6F785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solidFill>
              <a:srgbClr val="138A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96982-FA96-4B80-8084-DD4BE9A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Lecture de TF map vers base_link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D59D6-2897-43A3-A74D-7C2AD71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7442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4C7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B9E43-1C80-4887-A0D1-2F0D388E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Pourquoi pick a été retirée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9C564-64F5-4280-BB5E-9A33597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53025"/>
            <a:ext cx="697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Le TurtleBot3 Burger ne possède pas de bras. Le système refuse donc la préhension au lieu de simuler une capacité inexistante.</a:t>
            </a:r>
          </a:p>
        </p:txBody>
      </p:sp>
    </p:spTree>
    <p:extLst>
      <p:ext uri="{BB962C8B-B14F-4D97-AF65-F5344CB8AC3E}">
        <p14:creationId xmlns:p14="http://schemas.microsoft.com/office/powerpoint/2010/main" val="1877468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01981-7177-408A-B81D-7047B8A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Boîte à outils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FB284-695A-46A5-AFFE-2FF3FA7F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1199B-CCE3-4AB4-99D9-ECE5B66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Un environnement local reproductible sous WSL2 et Ubuntu 22.04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D5B6A-FC52-464F-AA9E-EB9DE34C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893EC-7E2F-487D-BFAC-965BAD3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solidFill>
              <a:srgbClr val="146C9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FC375-6D99-4076-8101-5A9584D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Robotique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400DA-5E16-4030-8709-AD814B9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3827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ROS 2 Humble, rclpy, Nav2, TurtleBot3 Burger, Gazebo, RViz2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84077-8B2D-45DD-BF47-A3F7888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solidFill>
              <a:srgbClr val="19A7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99B9A-6F17-459C-A5A3-A892370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A7CE"/>
                </a:solidFill>
                <a:latin typeface="Arial"/>
                <a:ea typeface="Arial"/>
                <a:cs typeface="Arial"/>
              </a:rPr>
              <a:t>NLP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FFAFD-FC54-4C0B-957A-C7E2CF05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Python 3.10, PyTorch, Hugging Face Transformers, DistilBERT multilingue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F028A-2B63-4EB0-88F4-4E8A213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2FD1A-78D7-4475-9745-EC034FE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LLM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10483-D7F3-47F0-B0F2-92979D6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2897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Ollama, llama3.2:1b, sorties JSON contraintes, mémoire 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864BA-A709-457F-BE2F-D3BF2E0C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solidFill>
              <a:srgbClr val="138A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526C6-5A8F-443D-893D-95AE5CEC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Évaluation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1BD42-D108-44B4-9F2A-DD5606F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pytest, scikit-learn, Matplotlib, Seaborn, audits de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544F-F7B5-4625-A9CD-C6F05AD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52"/>
          </a:solidFill>
          <a:ln xmlns:a="http://schemas.openxmlformats.org/drawingml/2006/main" w="0">
            <a:solidFill>
              <a:srgbClr val="0A22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90031-E85B-4307-A97E-5CF7F13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Développement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C2022-318C-4B1F-9375-7509F73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Git, GitHub, VS Code Remote WSL, scripts d’installation et de diagnostic</a:t>
            </a:r>
          </a:p>
        </p:txBody>
      </p:sp>
    </p:spTree>
    <p:extLst>
      <p:ext uri="{BB962C8B-B14F-4D97-AF65-F5344CB8AC3E}">
        <p14:creationId xmlns:p14="http://schemas.microsoft.com/office/powerpoint/2010/main" val="1587984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52576-1863-494B-ABCD-9AC4A70CBBC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773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9A7CE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BC9A9-A6EC-4708-A507-0F323209AE4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1040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9A7CE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56E13-578E-4D8A-BB8B-2E718391437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434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9A7CE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51BE8-008D-40F4-A1E9-A692D135320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9A7CE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B081E-2C32-4ADB-AF94-24F50C26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Architecture du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619AE-B177-4D87-B11C-5DBD2B2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EDDA0-0BE7-418E-82B6-5CD2F3F1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Chaque étape produit une décision contrôlable et traçable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8A3C1-58B0-4E81-B5A5-9FDA2E9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80B1D-FF6C-48A0-89CE-877FF502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71A00-03BB-4521-9DC9-843D0942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3F4B3-1E3F-4F37-81FD-61140E0F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Terminal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ou micro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D3021-6E80-4014-9F69-7D9528A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05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1B022-00E4-4A38-B8A1-271CA13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Comprendre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4FB1B-7C6E-4AFB-B748-4D1DDE98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Règles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LLM local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840F3-543F-4137-AAD6-8C24A1C5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05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F36F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2C888-4747-4D4C-BBC2-EE9F22C3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8380D-86AB-49A5-948E-0DD9970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Intention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Confiance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150CA-A182-4246-B147-CA2ED53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9F6F2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A8D42-5B2E-49FD-874A-9B8A1E29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ROS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18928-7539-46DB-9EF0-8D4E5D5A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Action Nav2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Annulation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8B815-377C-467D-A6C1-1BA3430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5086D-7FB8-404B-97AF-C4E4920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4D63A-1009-464B-B38E-E3A58AC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TurtleBot3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dans Gazebo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DCBFB-7278-480A-9D16-9522855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71A36"/>
          </a:solidFill>
          <a:ln xmlns:a="http://schemas.openxmlformats.org/drawingml/2006/main" w="0">
            <a:solidFill>
              <a:srgbClr val="071A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A7E82-5970-4C7B-ABEC-F472A28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Garde-fous permanents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C4123-4012-4153-9652-E4668941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625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CFE3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FE3F3"/>
                </a:solidFill>
                <a:latin typeface="Arial"/>
                <a:ea typeface="Arial"/>
                <a:cs typeface="Arial"/>
              </a:rPr>
              <a:t>Liste blanche des destinations   Confiance minimale 0,65   Refus des ordres niés ou séquentiels   Arrêt prioritaire</a:t>
            </a:r>
          </a:p>
        </p:txBody>
      </p:sp>
    </p:spTree>
    <p:extLst>
      <p:ext uri="{BB962C8B-B14F-4D97-AF65-F5344CB8AC3E}">
        <p14:creationId xmlns:p14="http://schemas.microsoft.com/office/powerpoint/2010/main" val="1647687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A99FA-E47C-441F-9EB5-39B3045C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Démarche sur six semaines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5D8E1-D698-499D-BF1A-5454785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099E0-E3D9-4470-A669-7FEF47CB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Construction progressive du dataset jusqu’à la soutenance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7C71B-5A1B-44DF-820D-177313A6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5F2D7-884D-4C76-AE38-350D018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971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solidFill>
              <a:srgbClr val="D6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8542-9959-40C2-8BBF-CBA59E2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6200D-D3F9-4975-B848-D76F5B3E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302AA-B0F6-44D6-B071-E5DAE0D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Cadrage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342D6-D487-455E-A1B4-D27AD79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Monde Gazebo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Waypoints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E473F-9ED3-4C15-A76E-A34C743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7DA96-6355-4157-88D9-8547FDB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2BCEC-7CF7-44A5-86A9-22AA214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NLP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6622F-863E-49F5-BC53-E7CD1076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Préparation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Entraînement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045FC-8022-4B6B-91D5-717F535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2DD4E-3B5E-461D-80DD-F28A08B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B69B2-E368-48F6-92E3-7AF8B79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Entités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EFC5C-1958-4225-8ECD-519CE0D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Extraction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Règles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Évaluation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B5B6C-B240-4860-B9C0-1300F31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6E1E3-02B3-425C-890C-FE188D9B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00AFA-88D2-42D2-8135-645C08A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ROS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5D1E9-54B3-4CA6-8638-344FD2A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Nœud rclpy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Nav2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FA087-B130-4641-A422-7AB25ED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75F00-3C71-4310-AD51-19FDECE2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D420E-128C-4960-A01F-05918663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704A3-08B5-46A5-834C-B84A4B4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50 commandes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Pannes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Corrections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4C336-901E-4F9E-8DE3-C276325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41971-5988-4B6F-929B-7D3B763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81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C2FB2-9445-4566-BDEB-3C795C5B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097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Finalisation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49306F-F469-4FB0-9618-9EAC893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62350"/>
            <a:ext cx="1504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Rapport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Démo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Dépôt Git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6DB64-E99C-4F0A-B8D4-A2870A1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Les semaines 3 et 4 se chevauchent volontairement : les erreurs NLP apparaissent seulement quand le robot exécute réellement les décisions.</a:t>
            </a:r>
          </a:p>
        </p:txBody>
      </p:sp>
    </p:spTree>
    <p:extLst>
      <p:ext uri="{BB962C8B-B14F-4D97-AF65-F5344CB8AC3E}">
        <p14:creationId xmlns:p14="http://schemas.microsoft.com/office/powerpoint/2010/main" val="2055627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44C9E-5198-439A-A895-90A41A8F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Dataset et préparation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6C941-D610-4759-9A94-CF28FEC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CBF3-393D-45C5-B1ED-177EBAA8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Corpus équilibré et séparation explicite des jeux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0022A-909E-4DE7-8E25-407C7B6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77F26-D1A8-438A-98BE-A593F2C0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A5DE9-8D4D-4295-BFAC-24C50A4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193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phrases d’apprentissage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54 par intention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7C67-AB12-4107-9F0B-D48D889E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97FD8-6F33-44B0-9044-80F90E4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95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phrases de test indépendant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15 par intention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49CF2-F5B2-43A6-A081-9D7C0C0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Répartition du corpus d’apprentissage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E0920-1F5F-416F-A5AD-376D05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520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0">
            <a:solidFill>
              <a:srgbClr val="146C9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CD19B-C284-4B3F-8188-981A106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solidFill>
              <a:srgbClr val="19A7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CEABD-E7D7-4ED8-9DA9-D78A35B3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126 entraînement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37DAF-00F6-474C-9B1F-AE5BFA2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36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C46FB-8B0E-48BB-8708-7E1A6EB3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Contrôles avant entraînement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1F718-231A-4A82-AE9E-077C260A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Labels strictement limités à navigate, stop et report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Zéro doublon exact entre apprentissage, validation et test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Zéro quasi-doublon au-dessus du seuil 0,94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Accents, casse et ponctuation normalisés pour les règles</a:t>
            </a:r>
          </a:p>
        </p:txBody>
      </p:sp>
    </p:spTree>
    <p:extLst>
      <p:ext uri="{BB962C8B-B14F-4D97-AF65-F5344CB8AC3E}">
        <p14:creationId xmlns:p14="http://schemas.microsoft.com/office/powerpoint/2010/main" val="117246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B35C2-92CE-4CA1-9D47-79FDB41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Entraînement DistilBERT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18929-4172-4A5A-A6DA-3DC6005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DF60B-F370-4D2C-A7BE-E4E3C66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Classification multilingue des trois intentions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D285C-C915-42C8-BDA3-A943F5F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E3502-9B90-495D-9F51-4D8C8634F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1908d32cd4851"/>
          <a:stretch xmlns:a="http://schemas.openxmlformats.org/drawingml/2006/main"/>
        </p:blipFill>
        <p:spPr>
          <a:xfrm xmlns:a="http://schemas.openxmlformats.org/drawingml/2006/main">
            <a:off x="6362700" y="1654629"/>
            <a:ext cx="4762500" cy="40821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D5006-FF42-43A6-836F-5DF5497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6BF53-C686-4A57-BBE0-B6314D8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Modèle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49BD8-D3C3-4296-998F-4ED1BC47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distilbert-base-multilingual-cased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FC529-03EC-4BB8-997C-DC91C036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Époques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42460-5695-4212-82A4-19AA6C0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9C56-5B60-4AC3-B2EC-B69B7C0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651DE-849D-4352-AA31-25200E0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9446A-4C12-4C2E-AA16-9B3D010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2CBE-EA32-44B5-9B34-582A473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2 × 10⁻⁵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D5CAA-BE2A-404F-9894-9122597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Graine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22033-7262-4FAB-A28E-2C8966E8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E88FA-E5D7-477A-9CCD-87E60EE4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Sélection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81493-6E0F-4D46-9F43-B87F24C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meilleur F1 macro de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A18B9-15E0-43D0-9780-A1360AE7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6F2"/>
          </a:solidFill>
          <a:ln xmlns:a="http://schemas.openxmlformats.org/drawingml/2006/main" w="9525">
            <a:solidFill>
              <a:srgbClr val="A8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12EA5-2CE6-4832-BB6A-D3CDF69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Validation : 35 bonnes prédictions sur 36</a:t>
            </a:r>
          </a:p>
        </p:txBody>
      </p:sp>
    </p:spTree>
    <p:extLst>
      <p:ext uri="{BB962C8B-B14F-4D97-AF65-F5344CB8AC3E}">
        <p14:creationId xmlns:p14="http://schemas.microsoft.com/office/powerpoint/2010/main" val="1276597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4A062-2BC9-436B-9F59-9710BB25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LLM local et mémoire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102CC-F931-42A2-BE6A-8C04D2B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5AE1-0069-4DCF-83D2-A96F048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Une extension optionnelle encadrée par les règles de sûreté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7D05-9635-466A-B661-2324F3C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64843-A2F5-4B48-8C55-F92F396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Ollama + llama3.2:1b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C10E1-BE27-4860-8934-583E868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Le modèle retourne uniquement un JSON contraint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La liste blanche et la confiance restent obligatoires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DistilBERT prend le relais si le LLM devient indisponible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99ED9-6E2A-4208-9767-1C7D074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Mémoire SQLite locale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371B1-89CF-4646-9D24-A027DED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Maximum de 200 commandes acceptées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Les 8 dernières commandes servent de contexte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52238"/>
                </a:solidFill>
                <a:latin typeface="Arial"/>
                <a:ea typeface="Arial"/>
                <a:cs typeface="Arial"/>
              </a:rPr>
              <a:t>Aucune modification automatique des poids du modèle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1AE5D-D9A5-495A-BE93-A3220D99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906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1A36"/>
          </a:solidFill>
          <a:ln xmlns:a="http://schemas.openxmlformats.org/drawingml/2006/main" w="0">
            <a:solidFill>
              <a:srgbClr val="071A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841D5-71D0-4295-B9BB-203F4AD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72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 Va dans la cuisine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D2CFE-EDB8-4546-85CB-928BEF8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720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 Refais la dernière commande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44FA4-D4D4-4F2E-AE56-65298E4F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38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BFD7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FD7E9"/>
                </a:solidFill>
                <a:latin typeface="Arial"/>
                <a:ea typeface="Arial"/>
                <a:cs typeface="Arial"/>
              </a:rPr>
              <a:t>La mémoire retrouve la destination cuisine sans demander au LLM de l’inventer.</a:t>
            </a:r>
          </a:p>
        </p:txBody>
      </p:sp>
    </p:spTree>
    <p:extLst>
      <p:ext uri="{BB962C8B-B14F-4D97-AF65-F5344CB8AC3E}">
        <p14:creationId xmlns:p14="http://schemas.microsoft.com/office/powerpoint/2010/main" val="1888497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5D7A3-D64A-4555-9725-B8BC6B7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Intégration ROS 2 et Nav2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A2E30-894A-4308-B994-8E56B32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556DC-88D3-47F0-91BF-72FD542C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Un appartement cohérent entre Gazebo et la carte de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BB96A-69F3-4FC7-980B-AA6AA7B6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6369-0D91-487F-8D7A-B45CF8B1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Interfaces principales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31F4-FD3D-4CB9-AF03-A6B417D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/nlp_command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DEBCB-D45E-4F97-BB5E-FC186A86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entrée texte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11A22-AED9-491E-91D9-3F7BB511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/nlp_commander/status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8E8EB-B7A2-4927-AC33-33460B6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événements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021ED-BBF4-4D15-9DEC-77B087AC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/navigate_to_pose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ABD07-9FA5-4605-AFCD-5941F98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action Nav2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A37FE-65CC-427D-BC59-29A0B376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map vers base_link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34FB9-B13E-42AF-B207-49FE856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position TF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B9676-1AB4-4DB5-B524-E4E1BE79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/cmd_vel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B42DC-C27F-4E7C-9FB1-8E62ADDA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vitesse nulle complémentaire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419DF-2D8E-4BA6-BD4C-0E6EBCFE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5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6F2"/>
          </a:solidFill>
          <a:ln xmlns:a="http://schemas.openxmlformats.org/drawingml/2006/main" w="9525">
            <a:solidFill>
              <a:srgbClr val="A8D8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05453-4D8B-464B-9364-B3BF48B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97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Waypoints sûrs placés derrière les portes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095B3-0659-4270-B544-DCC2DA297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8c103304048c6">
            <a:extLst>
              <a:ext uri="{96DAC541-7B7A-43D3-8B79-37D633B846F1}">
                <asvg:svgBlip xmlns:asvg="http://schemas.microsoft.com/office/drawing/2016/SVG/main" r:embed="R1287848013a447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0" y="1352550"/>
            <a:ext cx="5334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74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CF68A0-F584-4D13-8C43-8395D00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Scénario de 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9ADC-114A-4C93-B537-E61010E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A3886-A847-4067-88C7-2632D36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Du lancement WSL au statut Nav2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4A2DA-01BF-4832-9E31-F088BF0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02537-62BE-4306-B445-B233744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0D76E-3F0D-4EC2-9EDC-A1D1779F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14FF-9F58-43BE-8A67-187B151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859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439AC-1876-4F9E-9181-7D4FF0E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752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solidFill>
              <a:srgbClr val="101B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DAFD1-AA55-4B38-9792-7D4C787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43050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F2FF"/>
                </a:solidFill>
                <a:latin typeface="Arial"/>
                <a:ea typeface="Arial"/>
                <a:cs typeface="Arial"/>
              </a:rPr>
              <a:t>bash scripts/wsl_run_simulation.sh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6F32-18C2-42EF-96EA-BF76555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FD0EB-50A3-4512-B53C-07B501D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36A60-1F37-49B5-9BB8-87C8D6D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26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C944F-E845-4E1D-A6D6-1689B3FF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95525"/>
            <a:ext cx="752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solidFill>
              <a:srgbClr val="101B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DF96B-0CD0-4D50-A84F-8C58C5E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9825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F2FF"/>
                </a:solidFill>
                <a:latin typeface="Arial"/>
                <a:ea typeface="Arial"/>
                <a:cs typeface="Arial"/>
              </a:rPr>
              <a:t>ros2 run nlp_robot_commander terminal_client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371DD-ED31-4C50-8E0B-2F4D0F5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8F745-B69D-4D4B-98A3-B36710B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6C1B9-B522-4A58-945A-75B9E7DF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472FF-3871-4D88-A2E1-F5170BF7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62300"/>
            <a:ext cx="752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solidFill>
              <a:srgbClr val="101B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BEE47-FCA8-41E2-B5FD-21EB153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F2FF"/>
                </a:solidFill>
                <a:latin typeface="Arial"/>
                <a:ea typeface="Arial"/>
                <a:cs typeface="Arial"/>
              </a:rPr>
              <a:t>va dans la cuisine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B016D-29BA-432E-B43B-260182A0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9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9AFBE-BBCD-431D-A5D7-AA09F4B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31E8F-3548-433F-ADB8-C27CEEC1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851D3-C0AA-40E9-914C-363869A3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29075"/>
            <a:ext cx="752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solidFill>
              <a:srgbClr val="101B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78222-F6B3-4C1A-8593-35AB485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43375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F2FF"/>
                </a:solidFill>
                <a:latin typeface="Arial"/>
                <a:ea typeface="Arial"/>
                <a:cs typeface="Arial"/>
              </a:rPr>
              <a:t>ou est tu?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60601-DB9C-4E58-BD83-F21EDFA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D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C2DD7-5EAD-431F-9590-F0137CE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E5A54-1AF2-4CE2-958C-A227D83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Arrêt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0894A-D53C-48D0-B882-BAC8A01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95850"/>
            <a:ext cx="752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solidFill>
              <a:srgbClr val="101B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100CC-E71E-4954-9686-B8E1FB29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10150"/>
            <a:ext cx="708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F2FF"/>
                </a:solidFill>
                <a:latin typeface="Arial"/>
                <a:ea typeface="Arial"/>
                <a:cs typeface="Arial"/>
              </a:rPr>
              <a:t>arrête-toi immédiatement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2C1E7-6242-4642-9304-F2215B4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626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À observer : command_parsed, navigation_started, navigation_feedback, navigation_succeeded et position_report.</a:t>
            </a:r>
          </a:p>
        </p:txBody>
      </p:sp>
    </p:spTree>
    <p:extLst>
      <p:ext uri="{BB962C8B-B14F-4D97-AF65-F5344CB8AC3E}">
        <p14:creationId xmlns:p14="http://schemas.microsoft.com/office/powerpoint/2010/main" val="1769134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00784-E613-4F80-8004-5994AA5D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Résultats mesurés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FBD63-7BCA-473E-8B39-FA86DC67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BDFEA-3320-40DD-B6DE-59AAAFC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Les métriques NLP sont séparées du succès physique de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05F9-BEA5-4223-ADB9-DB61C5AB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CF6FD04-8ADB-4364-84A2-8ED427831AA3}"/>
              </a:ext>
            </a:extLst>
          </p:cNvPr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ea61ef593740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452FA-CD1D-4E1A-B2FD-82099AEE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900" b="1">
                <a:solidFill>
                  <a:srgbClr val="F36F2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6F21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FC462-911F-4333-A8F2-17F2BFE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tests automatisés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actuellement collectés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B5EBB-A2D6-451D-874B-686F8F8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defPPr>
            <a:lvl1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1pPr>
            <a:lvl2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2pPr>
            <a:lvl3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3pPr>
            <a:lvl4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4pPr>
            <a:lvl5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5pPr>
            <a:lvl6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6pPr>
            <a:lvl7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7pPr>
            <a:lvl8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8pPr>
            <a:lvl9pPr algn="ctr"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900" b="1">
                <a:solidFill>
                  <a:srgbClr val="138A7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38A72"/>
                </a:solidFill>
                <a:latin typeface="Arial"/>
                <a:ea typeface="Arial"/>
                <a:cs typeface="Arial"/>
              </a:rPr>
              <a:t>15/15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E9557-B1F9-48B8-A61A-C3FDB97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scénarios de sûreté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conformes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23EBE-6254-4269-BB80-7A3C2B60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333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FFA6C-36F4-489A-8C0B-898FFC3E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Navigation réelle testée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770C4-0A3A-485D-BE3B-ABBC48B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Cuisine atteinte avec le waypoint sécurisé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Statut Nav2 : SUCCEEDED</a:t>
            </a:r>
          </a:p>
        </p:txBody>
      </p:sp>
    </p:spTree>
    <p:extLst>
      <p:ext uri="{BB962C8B-B14F-4D97-AF65-F5344CB8AC3E}">
        <p14:creationId xmlns:p14="http://schemas.microsoft.com/office/powerpoint/2010/main" val="924994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15F51-7F6D-470C-A359-00D3D20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A2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252"/>
                </a:solidFill>
                <a:latin typeface="Arial"/>
                <a:ea typeface="Arial"/>
                <a:cs typeface="Arial"/>
              </a:rPr>
              <a:t>Modes d’échec et corrections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5FD38-E6DE-4234-AC4A-EF5F2D2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54D9A-33A3-461D-91A1-8202223D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667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Les essais en simulation ont guidé les corrections du système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AEC7C-FD9F-456F-B62A-CB4E68BB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46C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C9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4D64F-3C70-48C6-8524-D3D996627C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348642de74332"/>
          <a:stretch xmlns:a="http://schemas.openxmlformats.org/drawingml/2006/main"/>
        </p:blipFill>
        <p:spPr>
          <a:xfrm xmlns:a="http://schemas.openxmlformats.org/drawingml/2006/main">
            <a:off x="6477000" y="2002698"/>
            <a:ext cx="4953000" cy="300500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A7743-3916-486F-8E89-42E5103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3D4B"/>
                </a:solidFill>
                <a:latin typeface="Arial"/>
                <a:ea typeface="Arial"/>
                <a:cs typeface="Arial"/>
              </a:rPr>
              <a:t>Double lancement Nav2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A658C-6919-491B-9E22-7FEFF49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62100"/>
            <a:ext cx="2809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Détection et refus d’une deuxième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901A-3C97-44C3-B538-6AF0F2D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solidFill>
              <a:srgbClr val="D6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75F14-49AA-4307-8CC3-3D848BD5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3D4B"/>
                </a:solidFill>
                <a:latin typeface="Arial"/>
                <a:ea typeface="Arial"/>
                <a:cs typeface="Arial"/>
              </a:rPr>
              <a:t>Waypoint près d’un 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4000A-4268-4D6D-9D98-567A0008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2809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Arrivée centrée derrière chaque 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A697C-9A61-4C8C-8264-EDAEFD6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solidFill>
              <a:srgbClr val="D6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A7830-5321-4D68-BB91-1AC9C3F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3D4B"/>
                </a:solidFill>
                <a:latin typeface="Arial"/>
                <a:ea typeface="Arial"/>
                <a:cs typeface="Arial"/>
              </a:rPr>
              <a:t>Formulation familière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27799-E0F9-4F64-81AE-49B4CBE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95700"/>
            <a:ext cx="2809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Règles pour « ou est tu ? » et variantes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98AAE-1DE7-4803-833A-3D21F163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FD8FA-DF0B-469A-8559-6D48C52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43D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3D4B"/>
                </a:solidFill>
                <a:latin typeface="Arial"/>
                <a:ea typeface="Arial"/>
                <a:cs typeface="Arial"/>
              </a:rPr>
              <a:t>Installation WSL fragile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6700F-AEEB-4042-8826-0700709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2809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Scripts setup, build, check et guide VS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ECFAC-F6CA-480D-B78D-899BCE44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531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Exemple réel : distance figée, puis navigation_finished avec result aborted.</a:t>
            </a:r>
          </a:p>
        </p:txBody>
      </p:sp>
    </p:spTree>
    <p:extLst>
      <p:ext uri="{BB962C8B-B14F-4D97-AF65-F5344CB8AC3E}">
        <p14:creationId xmlns:p14="http://schemas.microsoft.com/office/powerpoint/2010/main" val="395803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94C95-8CDC-4D1F-A7EE-888601F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Bilan et perspectives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6809F-9F98-4460-919E-FC9FAA5E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E7E07-D29E-4257-BBD3-F5D3348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9A7C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A7CE"/>
                </a:solidFill>
                <a:latin typeface="Arial"/>
                <a:ea typeface="Arial"/>
                <a:cs typeface="Arial"/>
              </a:rPr>
              <a:t>Ce qui fonctionne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02A7B-4270-4DDC-B5F2-C8521672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Compréhension de trois intentions françaises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sûre avant tout appel à ROS 2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Navigation et localisation dans un appartement Gazebo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Installation reproductible et dépôt Git documenté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7BC8B-50CD-4FC4-81DB-DF22CBE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B27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27D"/>
                </a:solidFill>
                <a:latin typeface="Arial"/>
                <a:ea typeface="Arial"/>
                <a:cs typeface="Arial"/>
              </a:rPr>
              <a:t>Prochaines étapes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3FC2E-F5BB-4316-83AC-93C2E591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4619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Tester avec plusieurs utilisateurs et plusieurs graines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Ajouter une entrée micro avec Whisper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Mesurer la robustesse au bruit et aux accents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Passer du simulateur à un TurtleBot3 réel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9BC72-0594-4560-819F-C01B167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D7E8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E8F5"/>
                </a:solidFill>
                <a:latin typeface="Arial"/>
                <a:ea typeface="Arial"/>
                <a:cs typeface="Arial"/>
              </a:rPr>
              <a:t>Le projet relie un modèle NLP mesurable à une action robotique observable.</a:t>
            </a:r>
          </a:p>
        </p:txBody>
      </p:sp>
    </p:spTree>
    <p:extLst>
      <p:ext uri="{BB962C8B-B14F-4D97-AF65-F5344CB8AC3E}">
        <p14:creationId xmlns:p14="http://schemas.microsoft.com/office/powerpoint/2010/main" val="21437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2026-10-26T14:08:31.8350000Z</dcterms:created>
  <dcterms:modified xsi:type="dcterms:W3CDTF">2026-10-26T14:08:31.8350000Z</dcterms:modified>
</coreProperties>
</file>